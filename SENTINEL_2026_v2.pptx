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0B2545"/>
                </a:solidFill>
                <a:latin typeface="Arial"/>
              </a:rP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E4D"/>
                </a:solidFill>
                <a:latin typeface="Arial"/>
              </a:rPr>
              <a:t>AI-Powered Unified CCTV Intelligence &amp; Investigation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17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1">
                <a:solidFill>
                  <a:srgbClr val="C2600B"/>
                </a:solidFill>
                <a:latin typeface="Arial"/>
              </a:rPr>
              <a:t>"80,000 Cameras. One Intelligence Layer."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810512"/>
            <a:ext cx="2880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59636" y="1938528"/>
            <a:ext cx="512064" cy="512064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13255" y="2120822"/>
            <a:ext cx="204826" cy="13108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78799" y="2149497"/>
            <a:ext cx="73737" cy="73737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4688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CCTV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7249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RTSP · ONVIF · Multi-VMS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10712" y="2194560"/>
            <a:ext cx="393192" cy="292608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58768" y="1810512"/>
            <a:ext cx="2880360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42916" y="193852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5196535" y="2092147"/>
            <a:ext cx="204826" cy="20482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24688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7249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7D3E0"/>
                </a:solidFill>
                <a:latin typeface="Arial"/>
              </a:rPr>
              <a:t>AI Intelligence Layer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93992" y="2194560"/>
            <a:ext cx="393192" cy="292608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42048" y="1810512"/>
            <a:ext cx="2880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26196" y="1938528"/>
            <a:ext cx="512064" cy="512064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79815" y="2092147"/>
            <a:ext cx="204826" cy="139281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5359" y="2243717"/>
            <a:ext cx="73737" cy="286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4688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COMMAND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7249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Alerts · Cases ·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3063240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54680"/>
            <a:ext cx="255117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C2600B"/>
                </a:solidFill>
                <a:latin typeface="Arial"/>
              </a:rPr>
              <a:t>PROBLEM STATEMENT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Sentinel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58768" y="3063240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154680"/>
            <a:ext cx="255117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C2600B"/>
                </a:solidFill>
                <a:latin typeface="Arial"/>
              </a:rPr>
              <a:t>THEME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Smart Automation / 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42048" y="3063240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154680"/>
            <a:ext cx="255117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C2600B"/>
                </a:solidFill>
                <a:latin typeface="Arial"/>
              </a:rPr>
              <a:t>CATEGORY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Software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3794760"/>
            <a:ext cx="2880360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86200"/>
            <a:ext cx="2551176" cy="5212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C2600B"/>
                </a:solidFill>
                <a:latin typeface="Arial"/>
              </a:rPr>
              <a:t>PROBLEM STATEMENT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Gujarat Police CCTV / Video Management &amp; Analytics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58768" y="3794760"/>
            <a:ext cx="2880360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3886200"/>
            <a:ext cx="2551176" cy="5212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C2600B"/>
                </a:solidFill>
                <a:latin typeface="Arial"/>
              </a:rPr>
              <a:t>TEAM ID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Not alloted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2048" y="3794760"/>
            <a:ext cx="2880360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886200"/>
            <a:ext cx="2551176" cy="5212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C2600B"/>
                </a:solidFill>
                <a:latin typeface="Arial"/>
              </a:rPr>
              <a:t>TEAM NAME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Caffeine Clause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4754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00B"/>
                </a:solidFill>
                <a:latin typeface="Arial"/>
              </a:rPr>
              <a:t>TEAM MEMBERS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5047488"/>
            <a:ext cx="18105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5216" y="5175504"/>
            <a:ext cx="402336" cy="402336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KJ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5120640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2545"/>
                </a:solidFill>
                <a:latin typeface="Arial"/>
              </a:rPr>
              <a:t>Kavya Joshi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5376672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B6B7B"/>
                </a:solidFill>
                <a:latin typeface="Arial"/>
              </a:rPr>
              <a:t>Team Lead · Full-Stack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68296" y="5047488"/>
            <a:ext cx="18105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478024" y="5175504"/>
            <a:ext cx="402336" cy="402336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3512" y="5120640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2545"/>
                </a:solidFill>
                <a:latin typeface="Arial"/>
              </a:rPr>
              <a:t>Prajinraj Ranawat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3512" y="5376672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B6B7B"/>
                </a:solidFill>
                <a:latin typeface="Arial"/>
              </a:rPr>
              <a:t>AI · Computer Vision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5047488"/>
            <a:ext cx="18105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70832" y="5175504"/>
            <a:ext cx="402336" cy="402336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VN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120640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2545"/>
                </a:solidFill>
                <a:latin typeface="Arial"/>
              </a:rPr>
              <a:t>Vanshal Nagar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5376672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B6B7B"/>
                </a:solidFill>
                <a:latin typeface="Arial"/>
              </a:rPr>
              <a:t>Backend · APIs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53912" y="5047488"/>
            <a:ext cx="18105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63640" y="5175504"/>
            <a:ext cx="402336" cy="402336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5120640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2545"/>
                </a:solidFill>
                <a:latin typeface="Arial"/>
              </a:rPr>
              <a:t>Isha Masani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39128" y="5376672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B6B7B"/>
                </a:solidFill>
                <a:latin typeface="Arial"/>
              </a:rPr>
              <a:t>Frontend · UI/UX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5047488"/>
            <a:ext cx="18105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56448" y="5175504"/>
            <a:ext cx="402336" cy="402336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VS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1936" y="5120640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2545"/>
                </a:solidFill>
                <a:latin typeface="Arial"/>
              </a:rPr>
              <a:t>Vishakha Sharma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31936" y="5376672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B6B7B"/>
                </a:solidFill>
                <a:latin typeface="Arial"/>
              </a:rPr>
              <a:t>GIS · Data Engineering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39528" y="5047488"/>
            <a:ext cx="18105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49256" y="5175504"/>
            <a:ext cx="402336" cy="402336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24744" y="5120640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2545"/>
                </a:solidFill>
                <a:latin typeface="Arial"/>
              </a:rPr>
              <a:t>Rishit Lad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24744" y="5376672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B6B7B"/>
                </a:solidFill>
                <a:latin typeface="Arial"/>
              </a:rPr>
              <a:t>DevOps ·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FROM CCTV FOOTAGE TO ACTIONABLE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Proposed Solution · built and demonstrated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0700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" y="129844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7101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26+ 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5B6B7B"/>
                </a:solidFill>
                <a:latin typeface="Arial"/>
              </a:rPr>
              <a:t>Police · Traffic · Municipal · Transport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2422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" y="191566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8823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CCTV / VMS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1683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5B6B7B"/>
                </a:solidFill>
                <a:latin typeface="Arial"/>
              </a:rPr>
              <a:t>RTSP · HLS · ONVIF · Vendor VMS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44144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" y="253288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0545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SENTINEL 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3405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C7D3E0"/>
                </a:solidFill>
                <a:latin typeface="Arial"/>
              </a:rPr>
              <a:t>Ingestion · Federation · Registry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05866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" y="315010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12267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AI DETECTION · ANPR ·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5127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5B6B7B"/>
                </a:solidFill>
                <a:latin typeface="Arial"/>
              </a:rPr>
              <a:t>YOLO detection + OCR plates + ByteTrack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367588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" y="376732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73989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EVENT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6849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5B6B7B"/>
                </a:solidFill>
                <a:latin typeface="Arial"/>
              </a:rPr>
              <a:t>Plate + time + camera + 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429310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" y="438454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35711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INVESTIGATION COPILOT &amp;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8571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5B6B7B"/>
                </a:solidFill>
                <a:latin typeface="Arial"/>
              </a:rPr>
              <a:t>Natural-language search, timeline, entity graph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910328"/>
            <a:ext cx="4709160" cy="51206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" y="5001768"/>
            <a:ext cx="82296" cy="329184"/>
          </a:xfrm>
          <a:prstGeom prst="roundRect">
            <a:avLst>
              <a:gd name="adj" fmla="val 50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97433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ALERTS → INCIDENTS → EVIDENCE →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20293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5B6B7B"/>
                </a:solidFill>
                <a:latin typeface="Arial"/>
              </a:rPr>
              <a:t>Case-ready, audited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12070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CORE INNOVATIONS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80" y="1517904"/>
            <a:ext cx="3058668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05272" y="1664208"/>
            <a:ext cx="365760" cy="36576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4-Point Star 35"/>
          <p:cNvSpPr/>
          <p:nvPr/>
        </p:nvSpPr>
        <p:spPr>
          <a:xfrm>
            <a:off x="5715000" y="1773936"/>
            <a:ext cx="146304" cy="146304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05272" y="2066544"/>
            <a:ext cx="27294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Unified CCTV Registry + GIS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5272" y="2304288"/>
            <a:ext cx="27294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5B6B7B"/>
                </a:solidFill>
                <a:latin typeface="Arial"/>
              </a:rPr>
              <a:t>Every camera mapped, searchable, health-monitored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5652" y="1517904"/>
            <a:ext cx="3058668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810244" y="1664208"/>
            <a:ext cx="365760" cy="36576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4-Point Star 40"/>
          <p:cNvSpPr/>
          <p:nvPr/>
        </p:nvSpPr>
        <p:spPr>
          <a:xfrm>
            <a:off x="8919972" y="1773936"/>
            <a:ext cx="146304" cy="146304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10244" y="2066544"/>
            <a:ext cx="27294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Cross-Camera Vehicle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0244" y="2304288"/>
            <a:ext cx="27294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5B6B7B"/>
                </a:solidFill>
                <a:latin typeface="Arial"/>
              </a:rPr>
              <a:t>Plate + appearance + time correlation across feeds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624328"/>
            <a:ext cx="3058668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05272" y="2770632"/>
            <a:ext cx="365760" cy="36576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4-Point Star 45"/>
          <p:cNvSpPr/>
          <p:nvPr/>
        </p:nvSpPr>
        <p:spPr>
          <a:xfrm>
            <a:off x="5715000" y="2880360"/>
            <a:ext cx="146304" cy="146304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05272" y="3172968"/>
            <a:ext cx="27294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AI Investigation Copilot + Graph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05272" y="3410712"/>
            <a:ext cx="27294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5B6B7B"/>
                </a:solidFill>
                <a:latin typeface="Arial"/>
              </a:rPr>
              <a:t>Ask a question, get journey, map, timeline + graph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5652" y="2624328"/>
            <a:ext cx="3058668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10244" y="2770632"/>
            <a:ext cx="365760" cy="36576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4-Point Star 50"/>
          <p:cNvSpPr/>
          <p:nvPr/>
        </p:nvSpPr>
        <p:spPr>
          <a:xfrm>
            <a:off x="8919972" y="2880360"/>
            <a:ext cx="146304" cy="146304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10244" y="3172968"/>
            <a:ext cx="27294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Real-Time Alerts &amp; Evidence Chain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10244" y="3410712"/>
            <a:ext cx="27294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5B6B7B"/>
                </a:solidFill>
                <a:latin typeface="Arial"/>
              </a:rPr>
              <a:t>Watchlist hits to court-ready, audited 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4946904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WHY SENTINEL?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40680" y="5257800"/>
            <a:ext cx="3040380" cy="14813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5367528"/>
            <a:ext cx="26746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B7B"/>
                </a:solidFill>
                <a:latin typeface="Arial"/>
              </a:rPr>
              <a:t>TODAY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5696712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52E4D"/>
                </a:solidFill>
                <a:latin typeface="Arial"/>
              </a:rPr>
              <a:t>•  Camera-by-camera viewing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5943600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52E4D"/>
                </a:solidFill>
                <a:latin typeface="Arial"/>
              </a:rPr>
              <a:t>•  Manual footage searching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6190488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52E4D"/>
                </a:solidFill>
                <a:latin typeface="Arial"/>
              </a:rPr>
              <a:t>•  Isolated, unlinked alerts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6437376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52E4D"/>
                </a:solidFill>
                <a:latin typeface="Arial"/>
              </a:rPr>
              <a:t>•  Fragmented evidence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63940" y="5257800"/>
            <a:ext cx="3040380" cy="1481328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46820" y="5367528"/>
            <a:ext cx="26746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WITH SENTINEL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46820" y="5696712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Arial"/>
              </a:rPr>
              <a:t>•  Unified statewide search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46820" y="5943600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Arial"/>
              </a:rPr>
              <a:t>•  AI-assisted investigation + graph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6820" y="6190488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Arial"/>
              </a:rPr>
              <a:t>•  Correlated cross-camera events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46820" y="6437376"/>
            <a:ext cx="26746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Arial"/>
              </a:rPr>
              <a:t>•  Case-ready evidence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THE PLATFORM — LIVE, NOT MOCKED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Real screens from the running system — live seeded data, not static mockups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25296"/>
            <a:ext cx="3614928" cy="2528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mand_center.png.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" y="1647444"/>
            <a:ext cx="3538728" cy="20680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1225296"/>
            <a:ext cx="3614928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25296"/>
            <a:ext cx="33406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Command 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1225296"/>
            <a:ext cx="3614928" cy="2528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ve_monitoring_wall.png.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1647444"/>
            <a:ext cx="3538728" cy="20680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1584" y="1225296"/>
            <a:ext cx="3614928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8744" y="1225296"/>
            <a:ext cx="33406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Live Monitoring Wall — real-time AI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1225296"/>
            <a:ext cx="3614928" cy="2528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ehicle_workspace.png.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780" y="1647444"/>
            <a:ext cx="3538728" cy="20680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107680" y="1225296"/>
            <a:ext cx="3614928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1225296"/>
            <a:ext cx="33406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Vehicle Investigation Workspace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954780"/>
            <a:ext cx="3614928" cy="2528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vestigation_graph.png.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88" y="4376928"/>
            <a:ext cx="3538728" cy="20680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75488" y="3954780"/>
            <a:ext cx="3614928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54780"/>
            <a:ext cx="33406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Investigation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1584" y="3954780"/>
            <a:ext cx="3614928" cy="2528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i_copilot.png.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4376928"/>
            <a:ext cx="3538728" cy="20680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291584" y="3954780"/>
            <a:ext cx="3614928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8744" y="3954780"/>
            <a:ext cx="33406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AI Investigation Copilot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7680" y="3954780"/>
            <a:ext cx="3614928" cy="2528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npr_intel.png.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5780" y="4376928"/>
            <a:ext cx="3538728" cy="206806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107680" y="3954780"/>
            <a:ext cx="3614928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4840" y="3954780"/>
            <a:ext cx="334060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ANPR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End-to-end pipeline · technology stack · security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042" y="1362456"/>
            <a:ext cx="438912" cy="438912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27715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CAMERA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RTSP / HLS / ONVIF / VMS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78369" y="1860804"/>
            <a:ext cx="100584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83525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22368" y="1362456"/>
            <a:ext cx="438912" cy="438912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2754041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6677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INGESTION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FEDERATION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6677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Vendor-neutral adapters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04695" y="1860804"/>
            <a:ext cx="100584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9851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48694" y="1362456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380367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3003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AI VIDEO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3003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C7D3E0"/>
                </a:solidFill>
                <a:latin typeface="Arial"/>
              </a:rPr>
              <a:t>YOLO + ANPR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C7D3E0"/>
                </a:solidFill>
                <a:latin typeface="Arial"/>
              </a:rPr>
              <a:t>+ ByteTrack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231021" y="1860804"/>
            <a:ext cx="100584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36177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5020" y="1362456"/>
            <a:ext cx="438912" cy="438912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6006693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9329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EVENT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9329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Plate · Time ·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Camera · Location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857346" y="1860804"/>
            <a:ext cx="100584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62502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01345" y="1362456"/>
            <a:ext cx="438912" cy="438912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633018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35654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CORRELATION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5654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Journey · behaviour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· alerts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483672" y="1860804"/>
            <a:ext cx="100584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88828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27671" y="1362456"/>
            <a:ext cx="438912" cy="438912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9259344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61980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INVESTIGATION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1980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Search · Copilot ·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Timeline · GIS · Graph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109998" y="1860804"/>
            <a:ext cx="100584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15154" y="1234440"/>
            <a:ext cx="151659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53997" y="1362456"/>
            <a:ext cx="438912" cy="438912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10885670" y="1494129"/>
            <a:ext cx="175566" cy="175566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8306" y="1874520"/>
            <a:ext cx="137029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COMMAND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0B2545"/>
                </a:solidFill>
                <a:latin typeface="Arial"/>
              </a:rPr>
              <a:t>CENTER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8306" y="2258568"/>
            <a:ext cx="13702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Alerts · Cases ·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B7B"/>
                </a:solidFill>
                <a:latin typeface="Arial"/>
              </a:rPr>
              <a:t>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TECHNOLOGY STACK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300984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300984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Python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34056" y="3300984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34056" y="3300984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FastAPI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10912" y="3300984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3300984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React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87768" y="3300984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87768" y="3300984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PostgreSQL / PostGIS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4624" y="3300984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4624" y="3300984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Docker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813048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813048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YOLO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34056" y="3813048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34056" y="3813048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OCR / ANPR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10912" y="3813048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3813048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ByteTrack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87768" y="3813048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87768" y="3813048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WebSocket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64624" y="3813048"/>
            <a:ext cx="2167128" cy="402336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64624" y="3813048"/>
            <a:ext cx="21671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Object Storage (MinIO)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4897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SECURITY BY DESIGN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818888"/>
            <a:ext cx="2167128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818888"/>
            <a:ext cx="198424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RBAC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34056" y="4818888"/>
            <a:ext cx="2167128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25496" y="4818888"/>
            <a:ext cx="198424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JWT AUTH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10912" y="4818888"/>
            <a:ext cx="2167128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02352" y="4818888"/>
            <a:ext cx="198424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AUDIT LOGS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87768" y="4818888"/>
            <a:ext cx="2167128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208" y="4818888"/>
            <a:ext cx="198424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ENCRYPTION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64624" y="4818888"/>
            <a:ext cx="2167128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56064" y="4818888"/>
            <a:ext cx="198424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EVIDENCE ACCESS CONTROL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385816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B6B7B"/>
                </a:solidFill>
                <a:latin typeface="Arial"/>
              </a:rPr>
              <a:t>Metadata-first design — video stays at source, only events and evidence pointers move across the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WORKFLOW &amp; 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How one detection becomes a resolved case — and what Sentinel connects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END-TO-END OPERATIONAL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600200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56362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Camera captures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9222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AI detects vehicle, reads plate (YOLO + ANPR)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1645920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1645920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0B2545"/>
                </a:solidFill>
                <a:latin typeface="Arial"/>
              </a:rPr>
              <a:t>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7692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199132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2556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Match &amp; correlate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39115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Plate checked against watchlist · cross-camera journey built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4" y="224485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2244852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0B2545"/>
                </a:solidFill>
                <a:latin typeface="Arial"/>
              </a:rPr>
              <a:t>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06624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798064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76148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Alert raised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299008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Pushed live to Command Center over WebSocket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9784" y="284378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784" y="2843784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0B2545"/>
                </a:solidFill>
                <a:latin typeface="Arial"/>
              </a:rPr>
              <a:t>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05556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3396996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360420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Operator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58902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Opens alert, sees camera, map, AI summary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9784" y="344271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9784" y="3442716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C2600B"/>
                </a:solidFill>
                <a:latin typeface="Arial"/>
              </a:rPr>
              <a:t>OPERATOR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04488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928" y="3995928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959352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Investigate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18795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Copilot Q&amp;A · Investigation Graph · GIS trail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9784" y="404164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9784" y="4041648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C2600B"/>
                </a:solidFill>
                <a:latin typeface="Arial"/>
              </a:rPr>
              <a:t>OPERATOR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503420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4594860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55828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Escalate &amp; attach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78688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Incident → Case, evidence linked, notes added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9784" y="4640580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9784" y="4640580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C2600B"/>
                </a:solidFill>
                <a:latin typeface="Arial"/>
              </a:rPr>
              <a:t>OPERATOR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102352"/>
            <a:ext cx="562356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928" y="5193792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157216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0B2545"/>
                </a:solidFill>
                <a:latin typeface="Arial"/>
              </a:rPr>
              <a:t>Resolve &amp; audit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538581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5B6B7B"/>
                </a:solidFill>
                <a:latin typeface="Arial"/>
              </a:rPr>
              <a:t>Report generated · every action logged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9784" y="523951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9784" y="5239512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C2600B"/>
                </a:solidFill>
                <a:latin typeface="Arial"/>
              </a:rPr>
              <a:t>OPERATOR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11887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SYSTEM INTEGRATION 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93608" y="1536192"/>
            <a:ext cx="1234440" cy="461772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8472" y="1737360"/>
            <a:ext cx="112471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SENTINEL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2" y="2496312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D8E1EC"/>
                </a:solidFill>
                <a:latin typeface="Arial"/>
              </a:rPr>
              <a:t>• Ingestion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2" y="3063240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D8E1EC"/>
                </a:solidFill>
                <a:latin typeface="Arial"/>
              </a:rPr>
              <a:t>• AI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8472" y="363016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D8E1EC"/>
                </a:solidFill>
                <a:latin typeface="Arial"/>
              </a:rPr>
              <a:t>• Correlation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2" y="4197096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D8E1EC"/>
                </a:solidFill>
                <a:latin typeface="Arial"/>
              </a:rPr>
              <a:t>• Investigation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8472" y="4764024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D8E1EC"/>
                </a:solidFill>
                <a:latin typeface="Arial"/>
              </a:rPr>
              <a:t>• Alerts / Cases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1536192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1664208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0B2545"/>
                </a:solidFill>
                <a:latin typeface="Arial"/>
              </a:rPr>
              <a:t>CCTV / VMS Vendors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3096" y="2139696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B6B7B"/>
                </a:solidFill>
                <a:latin typeface="Arial"/>
              </a:rPr>
              <a:t>RTSP · ONVIF · HLS adapters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8065008" y="2084832"/>
            <a:ext cx="210312" cy="137160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55080" y="3227832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83096" y="3355848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0B2545"/>
                </a:solidFill>
                <a:latin typeface="Arial"/>
              </a:rPr>
              <a:t>Vehicle &amp; Watchlist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83096" y="3831336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B6B7B"/>
                </a:solidFill>
                <a:latin typeface="Arial"/>
              </a:rPr>
              <a:t>Plate registry · watchlist feed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8065008" y="3776472"/>
            <a:ext cx="210312" cy="137160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55080" y="4919472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83096" y="5047488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0B2545"/>
                </a:solidFill>
                <a:latin typeface="Arial"/>
              </a:rPr>
              <a:t>GIS / Mapping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83096" y="5522976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B6B7B"/>
                </a:solidFill>
                <a:latin typeface="Arial"/>
              </a:rPr>
              <a:t>PostGIS + OpenStreetMap / Esri tiles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8065008" y="5468112"/>
            <a:ext cx="210312" cy="137160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774936" y="1536192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02952" y="1664208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0B2545"/>
                </a:solidFill>
                <a:latin typeface="Arial"/>
              </a:rPr>
              <a:t>Command Center UI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2139696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B6B7B"/>
                </a:solidFill>
                <a:latin typeface="Arial"/>
              </a:rPr>
              <a:t>Live ops dashboard for officers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9546336" y="2084832"/>
            <a:ext cx="210312" cy="137160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774936" y="3227832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02952" y="3355848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0B2545"/>
                </a:solidFill>
                <a:latin typeface="Arial"/>
              </a:rPr>
              <a:t>Realtime Notifications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02952" y="3831336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B6B7B"/>
                </a:solidFill>
                <a:latin typeface="Arial"/>
              </a:rPr>
              <a:t>WebSocket push to every client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9546336" y="3776472"/>
            <a:ext cx="210312" cy="137160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774936" y="4919472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2952" y="5047488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0B2545"/>
                </a:solidFill>
                <a:latin typeface="Arial"/>
              </a:rPr>
              <a:t>Evidence Object Storage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5522976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B6B7B"/>
                </a:solidFill>
                <a:latin typeface="Arial"/>
              </a:rPr>
              <a:t>MinIO / S3-compatible, access-controlled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9546336" y="5468112"/>
            <a:ext cx="210312" cy="137160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Buildable today · operable by police teams · designed to scale statewide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630168" cy="51206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90472"/>
            <a:ext cx="3630168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308152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TECHNICAL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1325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665683" y="1424635"/>
            <a:ext cx="131674" cy="131674"/>
          </a:xfrm>
          <a:prstGeom prst="gear6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92808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Vendor-neutral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31136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Open standards: RTSP / ONVIF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69464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Modular AI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07792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PostgreSQL / PostGIS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Edge + central processing 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23444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0248" y="1234440"/>
            <a:ext cx="3630168" cy="51206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1490472"/>
            <a:ext cx="3630168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1234440"/>
            <a:ext cx="308152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20" name="Oval 19"/>
          <p:cNvSpPr/>
          <p:nvPr/>
        </p:nvSpPr>
        <p:spPr>
          <a:xfrm>
            <a:off x="4379976" y="1325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78731" y="1424635"/>
            <a:ext cx="131674" cy="131674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1892808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Single command-centre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231136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GIS-based camera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2569464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Automated alerting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2907792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Investigation timelines &amp;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3246120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Evidence &amp; report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123444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83296" y="1234440"/>
            <a:ext cx="3630168" cy="51206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1490472"/>
            <a:ext cx="3630168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6" y="1234440"/>
            <a:ext cx="308152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SCALABILITY</a:t>
            </a:r>
          </a:p>
        </p:txBody>
      </p:sp>
      <p:sp>
        <p:nvSpPr>
          <p:cNvPr id="31" name="Oval 30"/>
          <p:cNvSpPr/>
          <p:nvPr/>
        </p:nvSpPr>
        <p:spPr>
          <a:xfrm>
            <a:off x="8193024" y="1325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8291779" y="1424635"/>
            <a:ext cx="131674" cy="131674"/>
          </a:xfrm>
          <a:prstGeom prst="triangl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1892808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Regional / edge AI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231136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Metadata-first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2569464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Load-balanced analytics workers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2907792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Hot / Warm / Cold storage tiers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3246120"/>
            <a:ext cx="326440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Designed for 80,000-camera 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8221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SAME ARCHITECTURE — HORIZONTAL SCALE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51376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279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B2545"/>
                </a:solidFill>
                <a:latin typeface="Arial"/>
              </a:rPr>
              <a:t>50 CAMERAS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085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Arial"/>
              </a:rPr>
              <a:t>Pilot / demo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621024" y="4457700"/>
            <a:ext cx="347472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023360" y="4151376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4279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B2545"/>
                </a:solidFill>
                <a:latin typeface="Arial"/>
              </a:rPr>
              <a:t>5,000 CAMERAS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46085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Arial"/>
              </a:rPr>
              <a:t>City-wide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187184" y="4457700"/>
            <a:ext cx="347472" cy="164592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589520" y="4151376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4279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80,000 CAMERAS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46085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7D3E0"/>
                </a:solidFill>
                <a:latin typeface="Arial"/>
              </a:rPr>
              <a:t>Statewide (Designed)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093208"/>
            <a:ext cx="1127455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5B6B7B"/>
                </a:solidFill>
                <a:latin typeface="Arial"/>
              </a:rPr>
              <a:t>Architecture layers stay constant — compute and storage scale out.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85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RISKS → MITIGATION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7150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" y="58247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0B"/>
                </a:solidFill>
                <a:latin typeface="Arial"/>
              </a:rPr>
              <a:t>Bandwidth constraints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" y="6099048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152E4D"/>
                </a:solidFill>
                <a:latin typeface="Arial"/>
              </a:rPr>
              <a:t>Edge processing at source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00984" y="57150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47288" y="58247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0B"/>
                </a:solidFill>
                <a:latin typeface="Arial"/>
              </a:rPr>
              <a:t>Vendor lock-in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47288" y="6099048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152E4D"/>
                </a:solidFill>
                <a:latin typeface="Arial"/>
              </a:rPr>
              <a:t>Adapter / abstraction layer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57150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58247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0B"/>
                </a:solidFill>
                <a:latin typeface="Arial"/>
              </a:rPr>
              <a:t>AI false positives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1072" y="6099048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152E4D"/>
                </a:solidFill>
                <a:latin typeface="Arial"/>
              </a:rPr>
              <a:t>Confidence score + human review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88552" y="57150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34856" y="58247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0B"/>
                </a:solidFill>
                <a:latin typeface="Arial"/>
              </a:rPr>
              <a:t>System failure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4856" y="6099048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152E4D"/>
                </a:solidFill>
                <a:latin typeface="Arial"/>
              </a:rPr>
              <a:t>HA / DR architecture (Designed)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From monitoring cameras to understanding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8928" y="1417320"/>
            <a:ext cx="1920240" cy="19202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8928" y="2020824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◈ 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808" y="2377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C7D3E0"/>
                </a:solidFill>
                <a:latin typeface="Arial"/>
              </a:rPr>
              <a:t>One intelligence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3657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417320"/>
            <a:ext cx="457200" cy="45720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4-Point Star 9"/>
          <p:cNvSpPr/>
          <p:nvPr/>
        </p:nvSpPr>
        <p:spPr>
          <a:xfrm>
            <a:off x="740664" y="1554480"/>
            <a:ext cx="182880" cy="182880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807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FASTER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91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 i="0">
                <a:solidFill>
                  <a:srgbClr val="5B6B7B"/>
                </a:solidFill>
                <a:latin typeface="Arial"/>
              </a:rPr>
              <a:t>Minutes, not manual searching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57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38744" y="1417320"/>
            <a:ext cx="457200" cy="45720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4-Point Star 14"/>
          <p:cNvSpPr/>
          <p:nvPr/>
        </p:nvSpPr>
        <p:spPr>
          <a:xfrm>
            <a:off x="8375904" y="1554480"/>
            <a:ext cx="182880" cy="182880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807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STATEWIDE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 i="0">
                <a:solidFill>
                  <a:srgbClr val="5B6B7B"/>
                </a:solidFill>
                <a:latin typeface="Arial"/>
              </a:rPr>
              <a:t>Unified view across 26+ departments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31720"/>
            <a:ext cx="3657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" y="2514600"/>
            <a:ext cx="457200" cy="45720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4-Point Star 19"/>
          <p:cNvSpPr/>
          <p:nvPr/>
        </p:nvSpPr>
        <p:spPr>
          <a:xfrm>
            <a:off x="740664" y="2651760"/>
            <a:ext cx="182880" cy="182880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4780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SMARTER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88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 i="0">
                <a:solidFill>
                  <a:srgbClr val="5B6B7B"/>
                </a:solidFill>
                <a:latin typeface="Arial"/>
              </a:rPr>
              <a:t>Vehicle → Camera → Event → Evidence → Case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331720"/>
            <a:ext cx="3657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38744" y="2514600"/>
            <a:ext cx="457200" cy="457200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4-Point Star 24"/>
          <p:cNvSpPr/>
          <p:nvPr/>
        </p:nvSpPr>
        <p:spPr>
          <a:xfrm>
            <a:off x="8375904" y="2651760"/>
            <a:ext cx="182880" cy="182880"/>
          </a:xfrm>
          <a:prstGeom prst="star4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24780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LOWER OPERATIONAL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788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 i="0">
                <a:solidFill>
                  <a:srgbClr val="5B6B7B"/>
                </a:solidFill>
                <a:latin typeface="Arial"/>
              </a:rPr>
              <a:t>Automates repetitive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3429000"/>
            <a:ext cx="6062472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46120" y="3547872"/>
            <a:ext cx="420624" cy="420624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3375672" y="3741359"/>
            <a:ext cx="63935" cy="26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8900000">
            <a:off x="3402592" y="3687519"/>
            <a:ext cx="111045" cy="26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35112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AUDITABLE &amp; SECURE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7764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5B6B7B"/>
                </a:solidFill>
                <a:latin typeface="Arial"/>
              </a:rPr>
              <a:t>RBAC + audit trail + controlled evidence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2976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891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B7B"/>
                </a:solidFill>
                <a:latin typeface="Arial"/>
              </a:rPr>
              <a:t>BEFORE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52E4D"/>
                </a:solidFill>
                <a:latin typeface="Arial"/>
              </a:rPr>
              <a:t>80,000 cameras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3167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653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52E4D"/>
                </a:solidFill>
                <a:latin typeface="Arial"/>
              </a:rPr>
              <a:t>Fragmented systems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2326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7812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52E4D"/>
                </a:solidFill>
                <a:latin typeface="Arial"/>
              </a:rPr>
              <a:t>Manual 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1485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971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52E4D"/>
                </a:solidFill>
                <a:latin typeface="Arial"/>
              </a:rPr>
              <a:t>Delayed response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07024" y="4896612"/>
            <a:ext cx="347472" cy="219456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C2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09360" y="42976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 w="12700">
            <a:solidFill>
              <a:srgbClr val="0B2545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3891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AFTER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80,000 cameras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8383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3869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Unified intelligence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542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3028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AI-assisted investigation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67010" y="4754880"/>
            <a:ext cx="1154430" cy="7772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1874" y="4754880"/>
            <a:ext cx="104470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Faster 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1">
                <a:solidFill>
                  <a:srgbClr val="0B2545"/>
                </a:solidFill>
                <a:latin typeface="Arial"/>
              </a:rPr>
              <a:t>"From monitoring cameras to understanding events."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Arial"/>
              </a:rP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8638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Arial"/>
              </a:rPr>
              <a:t>Grounded in open standards, published CV research and proven distributed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630168" cy="51206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90472"/>
            <a:ext cx="3630168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308152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OFFICIAL / DOMAIN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1325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cument 9"/>
          <p:cNvSpPr/>
          <p:nvPr/>
        </p:nvSpPr>
        <p:spPr>
          <a:xfrm>
            <a:off x="665683" y="1424635"/>
            <a:ext cx="131674" cy="131674"/>
          </a:xfrm>
          <a:prstGeom prst="flowChartDocumen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11096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Gujarat Police CCTV / Sentinel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50008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SIH 2026 Problem Statement SIH26174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88920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RTSP &amp; ONVIF interoperability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27832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PostGIS geospatial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23444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70248" y="1234440"/>
            <a:ext cx="3630168" cy="51206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490472"/>
            <a:ext cx="3630168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234440"/>
            <a:ext cx="308152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AI / COMPUTER VISION</a:t>
            </a:r>
          </a:p>
        </p:txBody>
      </p:sp>
      <p:sp>
        <p:nvSpPr>
          <p:cNvPr id="19" name="Oval 18"/>
          <p:cNvSpPr/>
          <p:nvPr/>
        </p:nvSpPr>
        <p:spPr>
          <a:xfrm>
            <a:off x="4379976" y="1325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78731" y="1424635"/>
            <a:ext cx="131674" cy="13167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18233" y="1464137"/>
            <a:ext cx="52670" cy="5267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1911096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YOLO real-time object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350008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ByteTrack multi-object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2788920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OCR / ANPR plate-recognition literature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3227832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Cross-camera vehicle Re-ID research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23444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83296" y="1234440"/>
            <a:ext cx="3630168" cy="51206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1490472"/>
            <a:ext cx="3630168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6216" y="1234440"/>
            <a:ext cx="308152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30" name="Oval 29"/>
          <p:cNvSpPr/>
          <p:nvPr/>
        </p:nvSpPr>
        <p:spPr>
          <a:xfrm>
            <a:off x="8193024" y="1325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1779" y="1424635"/>
            <a:ext cx="52669" cy="52669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91779" y="1503638"/>
            <a:ext cx="52669" cy="52669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70782" y="1424635"/>
            <a:ext cx="52669" cy="52669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0782" y="1503638"/>
            <a:ext cx="52669" cy="52669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1911096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Event-driven video analytics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2350008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Edge + cloud video processing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2788920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High-availability distributed systems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3227832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52E4D"/>
                </a:solidFill>
                <a:latin typeface="Arial"/>
              </a:rPr>
              <a:t>•  Secure RBAC &amp; audit architectures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0B"/>
                </a:solidFill>
                <a:latin typeface="Arial"/>
              </a:rPr>
              <a:t>RESEARCH → SOLUTION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187952"/>
            <a:ext cx="2606040" cy="15727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261104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7CFD8"/>
                </a:solidFill>
                <a:latin typeface="Arial"/>
              </a:rPr>
              <a:t>01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" y="4700016"/>
            <a:ext cx="329184" cy="329184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720547" y="4798771"/>
            <a:ext cx="131674" cy="131674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08406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RESEARCH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321808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5B6B7B"/>
                </a:solidFill>
                <a:latin typeface="Arial"/>
              </a:rPr>
              <a:t>Standards, CV papers,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5B6B7B"/>
                </a:solidFill>
                <a:latin typeface="Arial"/>
              </a:rPr>
              <a:t>police workflows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19272" y="4187952"/>
            <a:ext cx="2606040" cy="15727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4261104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7CFD8"/>
                </a:solidFill>
                <a:latin typeface="Arial"/>
              </a:rPr>
              <a:t>02</a:t>
            </a:r>
          </a:p>
        </p:txBody>
      </p:sp>
      <p:sp>
        <p:nvSpPr>
          <p:cNvPr id="48" name="Oval 47"/>
          <p:cNvSpPr/>
          <p:nvPr/>
        </p:nvSpPr>
        <p:spPr>
          <a:xfrm>
            <a:off x="3483864" y="4700016"/>
            <a:ext cx="329184" cy="329184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iamond 48"/>
          <p:cNvSpPr/>
          <p:nvPr/>
        </p:nvSpPr>
        <p:spPr>
          <a:xfrm>
            <a:off x="3582619" y="4798771"/>
            <a:ext cx="131674" cy="131674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3864" y="508406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83864" y="5321808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5B6B7B"/>
                </a:solidFill>
                <a:latin typeface="Arial"/>
              </a:rPr>
              <a:t>Vendor-neutral,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5B6B7B"/>
                </a:solidFill>
                <a:latin typeface="Arial"/>
              </a:rPr>
              <a:t>metadata-first design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4187952"/>
            <a:ext cx="2606040" cy="15727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4261104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7CFD8"/>
                </a:solidFill>
                <a:latin typeface="Arial"/>
              </a:rPr>
              <a:t>03</a:t>
            </a:r>
          </a:p>
        </p:txBody>
      </p:sp>
      <p:sp>
        <p:nvSpPr>
          <p:cNvPr id="54" name="Oval 53"/>
          <p:cNvSpPr/>
          <p:nvPr/>
        </p:nvSpPr>
        <p:spPr>
          <a:xfrm>
            <a:off x="6345936" y="4700016"/>
            <a:ext cx="329184" cy="329184"/>
          </a:xfrm>
          <a:prstGeom prst="ellipse">
            <a:avLst/>
          </a:prstGeom>
          <a:solidFill>
            <a:srgbClr val="E9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amond 54"/>
          <p:cNvSpPr/>
          <p:nvPr/>
        </p:nvSpPr>
        <p:spPr>
          <a:xfrm>
            <a:off x="6444691" y="4798771"/>
            <a:ext cx="131674" cy="131674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45936" y="508406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PROTOTYPE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5321808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5B6B7B"/>
                </a:solidFill>
                <a:latin typeface="Arial"/>
              </a:rPr>
              <a:t>Working platform 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5B6B7B"/>
                </a:solidFill>
                <a:latin typeface="Arial"/>
              </a:rPr>
              <a:t>recorded + live feeds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43416" y="4187952"/>
            <a:ext cx="2606040" cy="1572768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>
            <a:outerShdw blurRad="90000" dist="25000" dir="5400000" rotWithShape="0">
              <a:srgbClr val="9AA7B5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08008" y="4261104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E5A7A"/>
                </a:solidFill>
                <a:latin typeface="Arial"/>
              </a:rPr>
              <a:t>04</a:t>
            </a:r>
          </a:p>
        </p:txBody>
      </p:sp>
      <p:sp>
        <p:nvSpPr>
          <p:cNvPr id="60" name="Oval 59"/>
          <p:cNvSpPr/>
          <p:nvPr/>
        </p:nvSpPr>
        <p:spPr>
          <a:xfrm>
            <a:off x="9208008" y="470001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iamond 60"/>
          <p:cNvSpPr/>
          <p:nvPr/>
        </p:nvSpPr>
        <p:spPr>
          <a:xfrm>
            <a:off x="9306763" y="4798771"/>
            <a:ext cx="131674" cy="131674"/>
          </a:xfrm>
          <a:prstGeom prst="diamond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08008" y="508406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DEPLOYMENT ROADMAP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8008" y="5321808"/>
            <a:ext cx="227685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C7D3E0"/>
                </a:solidFill>
                <a:latin typeface="Arial"/>
              </a:rPr>
              <a:t>Edge rollout, HA/DR,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C7D3E0"/>
                </a:solidFill>
                <a:latin typeface="Arial"/>
              </a:rPr>
              <a:t>dept.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