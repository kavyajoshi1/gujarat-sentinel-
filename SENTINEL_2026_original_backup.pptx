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29.png" ContentType="image/png"/>
  <Override PartName="/ppt/media/image28.png" ContentType="image/png"/>
  <Override PartName="/ppt/media/image11.png" ContentType="image/png"/>
  <Override PartName="/ppt/media/image2.png" ContentType="image/png"/>
  <Override PartName="/ppt/media/image17.png" ContentType="image/png"/>
  <Override PartName="/ppt/media/image8.png" ContentType="image/png"/>
  <Override PartName="/ppt/media/image12.png" ContentType="image/png"/>
  <Override PartName="/ppt/media/image3.png" ContentType="image/png"/>
  <Override PartName="/ppt/media/image18.png" ContentType="image/png"/>
  <Override PartName="/ppt/media/image20.png" ContentType="image/png"/>
  <Override PartName="/ppt/media/image9.png" ContentType="image/png"/>
  <Override PartName="/ppt/media/image4.png" ContentType="image/png"/>
  <Override PartName="/ppt/media/image13.png" ContentType="image/png"/>
  <Override PartName="/ppt/media/image30.png" ContentType="image/png"/>
  <Override PartName="/ppt/media/image31.png" ContentType="image/png"/>
  <Override PartName="/ppt/media/image7.png" ContentType="image/png"/>
  <Override PartName="/ppt/media/image16.png" ContentType="image/png"/>
  <Override PartName="/ppt/media/image10.png" ContentType="image/png"/>
  <Override PartName="/ppt/media/image1.png" ContentType="image/png"/>
  <Override PartName="/ppt/media/image6.png" ContentType="image/png"/>
  <Override PartName="/ppt/media/image15.png" ContentType="image/png"/>
  <Override PartName="/ppt/media/image5.png" ContentType="image/png"/>
  <Override PartName="/ppt/media/image14.png" ContentType="image/png"/>
  <Override PartName="/ppt/media/image19.png" ContentType="image/png"/>
  <Override PartName="/ppt/media/image21.png" ContentType="image/png"/>
  <Override PartName="/ppt/media/image22.png" ContentType="image/png"/>
  <Override PartName="/ppt/media/image23.png" ContentType="image/png"/>
  <Override PartName="/ppt/media/image24.png" ContentType="image/png"/>
  <Override PartName="/ppt/media/image25.png" ContentType="image/png"/>
  <Override PartName="/ppt/media/image26.png" ContentType="image/png"/>
  <Override PartName="/ppt/media/image27.png" ContentType="image/png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605D5AD4-7907-4600-B688-B4806184B2C6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SENTINEL unifies Gujarat's fragmented CCTV estate into one intelligence layer: cameras in, actionable investigation out. Problem Statement SIH26174.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8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98ADAF4-DEA5-4329-99B1-CFA9599D7DA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One intelligence layer sits between 26+ departments' cameras and the command centre, turning raw footage into correlated, case-ready intelligence.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1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E9ADBC1-A7BC-4AD4-B0A3-2622847343D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Left to right: cameras in, command centre out. AI analytics is the emphasised stage. Security is layered across the whole pipeline, not bolted on.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4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4EA1CDF-9E21-4B54-9B59-81D5482656B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Nothing here needs new science. Open standards, modular services and a metadata-first design make the 50 to 80,000 camera path an infrastructure question, not a re-architecture.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5659FD8-7A9D-4119-B685-6A54C376A5D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The same 80,000 cameras — the difference is the intelligence layer between them and the officer.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9DEB942-6393-441A-A149-CBD4126EF25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Standards-based, research-backed, and honest about what is prototype versus what is designed for deployment.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3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7161628-8476-479D-9F8E-DF4B599381D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4.png"/><Relationship Id="rId6" Type="http://schemas.openxmlformats.org/officeDocument/2006/relationships/image" Target="../media/image4.png"/><Relationship Id="rId7" Type="http://schemas.openxmlformats.org/officeDocument/2006/relationships/image" Target="../media/image4.png"/><Relationship Id="rId8" Type="http://schemas.openxmlformats.org/officeDocument/2006/relationships/image" Target="../media/image4.png"/><Relationship Id="rId9" Type="http://schemas.openxmlformats.org/officeDocument/2006/relationships/image" Target="../media/image4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9.png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3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Relationship Id="rId11" Type="http://schemas.openxmlformats.org/officeDocument/2006/relationships/image" Target="../media/image16.png"/><Relationship Id="rId12" Type="http://schemas.openxmlformats.org/officeDocument/2006/relationships/image" Target="../media/image17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11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/>
          <p:cNvSpPr/>
          <p:nvPr/>
        </p:nvSpPr>
        <p:spPr>
          <a:xfrm>
            <a:off x="457200" y="384120"/>
            <a:ext cx="77720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000" spc="497" strike="noStrike">
                <a:solidFill>
                  <a:srgbClr val="0b2545"/>
                </a:solidFill>
                <a:latin typeface="Arial"/>
                <a:ea typeface="Arial"/>
              </a:rPr>
              <a:t>SENTINEL</a:t>
            </a:r>
            <a:endParaRPr b="0" lang="en-US" sz="5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457200" y="1188720"/>
            <a:ext cx="86864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1d4e89"/>
                </a:solidFill>
                <a:latin typeface="Calibri"/>
                <a:ea typeface="Calibri"/>
              </a:rPr>
              <a:t>AI-Powered Unified CCTV Intelligence &amp; Investigation Platform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457200" y="1517760"/>
            <a:ext cx="8686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350" spc="-1" strike="noStrike">
                <a:solidFill>
                  <a:srgbClr val="c2600b"/>
                </a:solidFill>
                <a:latin typeface="Calibri"/>
                <a:ea typeface="Calibri"/>
              </a:rPr>
              <a:t>“</a:t>
            </a:r>
            <a:r>
              <a:rPr b="1" i="1" lang="en-US" sz="1350" spc="-1" strike="noStrike">
                <a:solidFill>
                  <a:srgbClr val="c2600b"/>
                </a:solidFill>
                <a:latin typeface="Calibri"/>
                <a:ea typeface="Calibri"/>
              </a:rPr>
              <a:t>80,000 Cameras. One Intelligence Layer.”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9326880" y="457200"/>
            <a:ext cx="23770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15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9326880" y="1115640"/>
            <a:ext cx="2377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868680" y="1993320"/>
            <a:ext cx="2925720" cy="1298160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d6dfe9"/>
            </a:solidFill>
            <a:round/>
          </a:ln>
          <a:effectLst>
            <a:outerShdw algn="bl" blurRad="101520" dir="5400000" dist="12600" kx="0" ky="0" rotWithShape="0" sx="100000" sy="100000">
              <a:srgbClr val="9fb0c2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2112120" y="2176200"/>
            <a:ext cx="438480" cy="438480"/>
          </a:xfrm>
          <a:prstGeom prst="ellipse">
            <a:avLst/>
          </a:prstGeom>
          <a:solidFill>
            <a:srgbClr val="eaf0f7"/>
          </a:solidFill>
          <a:ln w="12700">
            <a:solidFill>
              <a:srgbClr val="eaf0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" name="Image 0" descr="preencoded.png"/>
          <p:cNvPicPr/>
          <p:nvPr/>
        </p:nvPicPr>
        <p:blipFill>
          <a:blip r:embed="rId1"/>
          <a:stretch/>
        </p:blipFill>
        <p:spPr>
          <a:xfrm>
            <a:off x="2178000" y="2242080"/>
            <a:ext cx="306720" cy="306720"/>
          </a:xfrm>
          <a:prstGeom prst="rect">
            <a:avLst/>
          </a:prstGeom>
          <a:ln w="0">
            <a:noFill/>
          </a:ln>
        </p:spPr>
      </p:pic>
      <p:sp>
        <p:nvSpPr>
          <p:cNvPr id="16" name="Text 7"/>
          <p:cNvSpPr/>
          <p:nvPr/>
        </p:nvSpPr>
        <p:spPr>
          <a:xfrm>
            <a:off x="960120" y="2679120"/>
            <a:ext cx="27428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58" strike="noStrike">
                <a:solidFill>
                  <a:srgbClr val="0b2545"/>
                </a:solidFill>
                <a:latin typeface="Arial"/>
                <a:ea typeface="Arial"/>
              </a:rPr>
              <a:t>CCTV NETWORK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Text 8"/>
          <p:cNvSpPr/>
          <p:nvPr/>
        </p:nvSpPr>
        <p:spPr>
          <a:xfrm>
            <a:off x="960120" y="2926080"/>
            <a:ext cx="27428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b6b7b"/>
                </a:solidFill>
                <a:latin typeface="Calibri"/>
                <a:ea typeface="Calibri"/>
              </a:rPr>
              <a:t>RTSP · ONVIF · Multi-VMS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Shape 9"/>
          <p:cNvSpPr/>
          <p:nvPr/>
        </p:nvSpPr>
        <p:spPr>
          <a:xfrm>
            <a:off x="4617720" y="1993320"/>
            <a:ext cx="2925720" cy="1298160"/>
          </a:xfrm>
          <a:prstGeom prst="roundRect">
            <a:avLst>
              <a:gd name="adj" fmla="val 7042"/>
            </a:avLst>
          </a:prstGeom>
          <a:solidFill>
            <a:srgbClr val="0b2545"/>
          </a:solidFill>
          <a:ln w="12700">
            <a:solidFill>
              <a:srgbClr val="0b2545"/>
            </a:solidFill>
            <a:round/>
          </a:ln>
          <a:effectLst>
            <a:outerShdw algn="bl" blurRad="101520" dir="5400000" dist="12600" kx="0" ky="0" rotWithShape="0" sx="100000" sy="100000">
              <a:srgbClr val="9fb0c2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Shape 10"/>
          <p:cNvSpPr/>
          <p:nvPr/>
        </p:nvSpPr>
        <p:spPr>
          <a:xfrm>
            <a:off x="5861160" y="2176200"/>
            <a:ext cx="438480" cy="438480"/>
          </a:xfrm>
          <a:prstGeom prst="ellipse">
            <a:avLst/>
          </a:prstGeom>
          <a:solidFill>
            <a:srgbClr val="1d4e89"/>
          </a:solidFill>
          <a:ln w="12700">
            <a:solidFill>
              <a:srgbClr val="1d4e8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0" name="Image 1" descr="preencoded.png"/>
          <p:cNvPicPr/>
          <p:nvPr/>
        </p:nvPicPr>
        <p:blipFill>
          <a:blip r:embed="rId2"/>
          <a:stretch/>
        </p:blipFill>
        <p:spPr>
          <a:xfrm>
            <a:off x="5927040" y="2242080"/>
            <a:ext cx="306720" cy="306720"/>
          </a:xfrm>
          <a:prstGeom prst="rect">
            <a:avLst/>
          </a:prstGeom>
          <a:ln w="0">
            <a:noFill/>
          </a:ln>
        </p:spPr>
      </p:pic>
      <p:sp>
        <p:nvSpPr>
          <p:cNvPr id="21" name="Text 11"/>
          <p:cNvSpPr/>
          <p:nvPr/>
        </p:nvSpPr>
        <p:spPr>
          <a:xfrm>
            <a:off x="4709160" y="2679120"/>
            <a:ext cx="27428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58" strike="noStrike">
                <a:solidFill>
                  <a:srgbClr val="ffffff"/>
                </a:solidFill>
                <a:latin typeface="Arial"/>
                <a:ea typeface="Arial"/>
              </a:rPr>
              <a:t>SENTINEL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Text 12"/>
          <p:cNvSpPr/>
          <p:nvPr/>
        </p:nvSpPr>
        <p:spPr>
          <a:xfrm>
            <a:off x="4709160" y="2926080"/>
            <a:ext cx="27428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bfd2e8"/>
                </a:solidFill>
                <a:latin typeface="Calibri"/>
                <a:ea typeface="Calibri"/>
              </a:rPr>
              <a:t>AI Intelligence Layer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Shape 13"/>
          <p:cNvSpPr/>
          <p:nvPr/>
        </p:nvSpPr>
        <p:spPr>
          <a:xfrm>
            <a:off x="8366760" y="1993320"/>
            <a:ext cx="2925720" cy="1298160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d6dfe9"/>
            </a:solidFill>
            <a:round/>
          </a:ln>
          <a:effectLst>
            <a:outerShdw algn="bl" blurRad="101520" dir="5400000" dist="12600" kx="0" ky="0" rotWithShape="0" sx="100000" sy="100000">
              <a:srgbClr val="9fb0c2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Shape 14"/>
          <p:cNvSpPr/>
          <p:nvPr/>
        </p:nvSpPr>
        <p:spPr>
          <a:xfrm>
            <a:off x="9610200" y="2176200"/>
            <a:ext cx="438480" cy="438480"/>
          </a:xfrm>
          <a:prstGeom prst="ellipse">
            <a:avLst/>
          </a:prstGeom>
          <a:solidFill>
            <a:srgbClr val="eaf0f7"/>
          </a:solidFill>
          <a:ln w="12700">
            <a:solidFill>
              <a:srgbClr val="eaf0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" name="Image 2" descr="preencoded.png"/>
          <p:cNvPicPr/>
          <p:nvPr/>
        </p:nvPicPr>
        <p:blipFill>
          <a:blip r:embed="rId3"/>
          <a:stretch/>
        </p:blipFill>
        <p:spPr>
          <a:xfrm>
            <a:off x="9676080" y="2242080"/>
            <a:ext cx="306720" cy="306720"/>
          </a:xfrm>
          <a:prstGeom prst="rect">
            <a:avLst/>
          </a:prstGeom>
          <a:ln w="0">
            <a:noFill/>
          </a:ln>
        </p:spPr>
      </p:pic>
      <p:sp>
        <p:nvSpPr>
          <p:cNvPr id="26" name="Text 15"/>
          <p:cNvSpPr/>
          <p:nvPr/>
        </p:nvSpPr>
        <p:spPr>
          <a:xfrm>
            <a:off x="8458200" y="2679120"/>
            <a:ext cx="27428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58" strike="noStrike">
                <a:solidFill>
                  <a:srgbClr val="0b2545"/>
                </a:solidFill>
                <a:latin typeface="Arial"/>
                <a:ea typeface="Arial"/>
              </a:rPr>
              <a:t>COMMAND CENTER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Text 16"/>
          <p:cNvSpPr/>
          <p:nvPr/>
        </p:nvSpPr>
        <p:spPr>
          <a:xfrm>
            <a:off x="8458200" y="2926080"/>
            <a:ext cx="27428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b6b7b"/>
                </a:solidFill>
                <a:latin typeface="Calibri"/>
                <a:ea typeface="Calibri"/>
              </a:rPr>
              <a:t>Alerts · Cases · Evidence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Shape 17"/>
          <p:cNvSpPr/>
          <p:nvPr/>
        </p:nvSpPr>
        <p:spPr>
          <a:xfrm>
            <a:off x="3931920" y="2642400"/>
            <a:ext cx="548640" cy="360"/>
          </a:xfrm>
          <a:prstGeom prst="line">
            <a:avLst/>
          </a:prstGeom>
          <a:ln w="22225">
            <a:solidFill>
              <a:srgbClr val="c2600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Shape 18"/>
          <p:cNvSpPr/>
          <p:nvPr/>
        </p:nvSpPr>
        <p:spPr>
          <a:xfrm>
            <a:off x="7680960" y="2642400"/>
            <a:ext cx="548640" cy="360"/>
          </a:xfrm>
          <a:prstGeom prst="line">
            <a:avLst/>
          </a:prstGeom>
          <a:ln w="22225">
            <a:solidFill>
              <a:srgbClr val="c2600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Shape 19"/>
          <p:cNvSpPr/>
          <p:nvPr/>
        </p:nvSpPr>
        <p:spPr>
          <a:xfrm>
            <a:off x="457200" y="3584520"/>
            <a:ext cx="3596040" cy="712800"/>
          </a:xfrm>
          <a:prstGeom prst="roundRect">
            <a:avLst>
              <a:gd name="adj" fmla="val 10256"/>
            </a:avLst>
          </a:prstGeom>
          <a:solidFill>
            <a:srgbClr val="f4f7fa"/>
          </a:solidFill>
          <a:ln w="12700">
            <a:solidFill>
              <a:srgbClr val="d6dfe9"/>
            </a:solidFill>
            <a:round/>
          </a:ln>
          <a:effectLst>
            <a:outerShdw algn="bl" blurRad="101520" dir="16200000" dist="50760" kx="0" ky="0" rotWithShape="0" sx="100000" sy="100000">
              <a:srgbClr val="000000">
                <a:alpha val="7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Text 20"/>
          <p:cNvSpPr/>
          <p:nvPr/>
        </p:nvSpPr>
        <p:spPr>
          <a:xfrm>
            <a:off x="621720" y="3684960"/>
            <a:ext cx="32666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89" strike="noStrike">
                <a:solidFill>
                  <a:srgbClr val="c2600b"/>
                </a:solidFill>
                <a:latin typeface="Calibri"/>
                <a:ea typeface="Calibri"/>
              </a:rPr>
              <a:t>PROBLEM STATEMENT ID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Text 21"/>
          <p:cNvSpPr/>
          <p:nvPr/>
        </p:nvSpPr>
        <p:spPr>
          <a:xfrm>
            <a:off x="621720" y="3877200"/>
            <a:ext cx="32666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95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0b2545"/>
                </a:solidFill>
                <a:latin typeface="Calibri"/>
                <a:ea typeface="Calibri"/>
              </a:rPr>
              <a:t>SIH26174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Shape 22"/>
          <p:cNvSpPr/>
          <p:nvPr/>
        </p:nvSpPr>
        <p:spPr>
          <a:xfrm>
            <a:off x="4282200" y="3584520"/>
            <a:ext cx="3596040" cy="712800"/>
          </a:xfrm>
          <a:prstGeom prst="roundRect">
            <a:avLst>
              <a:gd name="adj" fmla="val 10256"/>
            </a:avLst>
          </a:prstGeom>
          <a:solidFill>
            <a:srgbClr val="f4f7fa"/>
          </a:solidFill>
          <a:ln w="12700">
            <a:solidFill>
              <a:srgbClr val="d6dfe9"/>
            </a:solidFill>
            <a:round/>
          </a:ln>
          <a:effectLst>
            <a:outerShdw algn="bl" blurRad="101520" dir="16200000" dist="50760" kx="0" ky="0" rotWithShape="0" sx="100000" sy="100000">
              <a:srgbClr val="000000">
                <a:alpha val="7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Text 23"/>
          <p:cNvSpPr/>
          <p:nvPr/>
        </p:nvSpPr>
        <p:spPr>
          <a:xfrm>
            <a:off x="4446720" y="3684960"/>
            <a:ext cx="32666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89" strike="noStrike">
                <a:solidFill>
                  <a:srgbClr val="c2600b"/>
                </a:solidFill>
                <a:latin typeface="Calibri"/>
                <a:ea typeface="Calibri"/>
              </a:rPr>
              <a:t>THEME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Text 24"/>
          <p:cNvSpPr/>
          <p:nvPr/>
        </p:nvSpPr>
        <p:spPr>
          <a:xfrm>
            <a:off x="4446720" y="3877200"/>
            <a:ext cx="32666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95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0b2545"/>
                </a:solidFill>
                <a:latin typeface="Calibri"/>
                <a:ea typeface="Calibri"/>
              </a:rPr>
              <a:t>Smart Automation / Security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Shape 25"/>
          <p:cNvSpPr/>
          <p:nvPr/>
        </p:nvSpPr>
        <p:spPr>
          <a:xfrm>
            <a:off x="8107200" y="3584520"/>
            <a:ext cx="3596040" cy="712800"/>
          </a:xfrm>
          <a:prstGeom prst="roundRect">
            <a:avLst>
              <a:gd name="adj" fmla="val 10256"/>
            </a:avLst>
          </a:prstGeom>
          <a:solidFill>
            <a:srgbClr val="f4f7fa"/>
          </a:solidFill>
          <a:ln w="12700">
            <a:solidFill>
              <a:srgbClr val="d6dfe9"/>
            </a:solidFill>
            <a:round/>
          </a:ln>
          <a:effectLst>
            <a:outerShdw algn="bl" blurRad="101520" dir="16200000" dist="50760" kx="0" ky="0" rotWithShape="0" sx="100000" sy="100000">
              <a:srgbClr val="000000">
                <a:alpha val="7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Text 26"/>
          <p:cNvSpPr/>
          <p:nvPr/>
        </p:nvSpPr>
        <p:spPr>
          <a:xfrm>
            <a:off x="8271720" y="3684960"/>
            <a:ext cx="32666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89" strike="noStrike">
                <a:solidFill>
                  <a:srgbClr val="c2600b"/>
                </a:solidFill>
                <a:latin typeface="Calibri"/>
                <a:ea typeface="Calibri"/>
              </a:rPr>
              <a:t>CATEGORY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Text 27"/>
          <p:cNvSpPr/>
          <p:nvPr/>
        </p:nvSpPr>
        <p:spPr>
          <a:xfrm>
            <a:off x="8271720" y="3877200"/>
            <a:ext cx="32666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95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0b2545"/>
                </a:solidFill>
                <a:latin typeface="Calibri"/>
                <a:ea typeface="Calibri"/>
              </a:rPr>
              <a:t>Software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Shape 28"/>
          <p:cNvSpPr/>
          <p:nvPr/>
        </p:nvSpPr>
        <p:spPr>
          <a:xfrm>
            <a:off x="457200" y="4425840"/>
            <a:ext cx="3596040" cy="712800"/>
          </a:xfrm>
          <a:prstGeom prst="roundRect">
            <a:avLst>
              <a:gd name="adj" fmla="val 10256"/>
            </a:avLst>
          </a:prstGeom>
          <a:solidFill>
            <a:srgbClr val="f4f7fa"/>
          </a:solidFill>
          <a:ln w="12700">
            <a:solidFill>
              <a:srgbClr val="d6dfe9"/>
            </a:solidFill>
            <a:round/>
          </a:ln>
          <a:effectLst>
            <a:outerShdw algn="bl" blurRad="101520" dir="16200000" dist="50760" kx="0" ky="0" rotWithShape="0" sx="100000" sy="100000">
              <a:srgbClr val="000000">
                <a:alpha val="7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Text 29"/>
          <p:cNvSpPr/>
          <p:nvPr/>
        </p:nvSpPr>
        <p:spPr>
          <a:xfrm>
            <a:off x="621720" y="4526280"/>
            <a:ext cx="32666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89" strike="noStrike">
                <a:solidFill>
                  <a:srgbClr val="c2600b"/>
                </a:solidFill>
                <a:latin typeface="Calibri"/>
                <a:ea typeface="Calibri"/>
              </a:rPr>
              <a:t>PROBLEM STATEMENT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Text 30"/>
          <p:cNvSpPr/>
          <p:nvPr/>
        </p:nvSpPr>
        <p:spPr>
          <a:xfrm>
            <a:off x="621720" y="4718160"/>
            <a:ext cx="32666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95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0b2545"/>
                </a:solidFill>
                <a:latin typeface="Calibri"/>
                <a:ea typeface="Calibri"/>
              </a:rPr>
              <a:t>Gujarat Police CCTV / Video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5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0b2545"/>
                </a:solidFill>
                <a:latin typeface="Calibri"/>
                <a:ea typeface="Calibri"/>
              </a:rPr>
              <a:t>Management &amp; Analytics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Shape 31"/>
          <p:cNvSpPr/>
          <p:nvPr/>
        </p:nvSpPr>
        <p:spPr>
          <a:xfrm>
            <a:off x="4282200" y="4425840"/>
            <a:ext cx="3596040" cy="712800"/>
          </a:xfrm>
          <a:prstGeom prst="roundRect">
            <a:avLst>
              <a:gd name="adj" fmla="val 10256"/>
            </a:avLst>
          </a:prstGeom>
          <a:solidFill>
            <a:srgbClr val="f4f7fa"/>
          </a:solidFill>
          <a:ln w="12700">
            <a:solidFill>
              <a:srgbClr val="d6dfe9"/>
            </a:solidFill>
            <a:round/>
          </a:ln>
          <a:effectLst>
            <a:outerShdw algn="bl" blurRad="101520" dir="16200000" dist="50760" kx="0" ky="0" rotWithShape="0" sx="100000" sy="100000">
              <a:srgbClr val="000000">
                <a:alpha val="7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Text 32"/>
          <p:cNvSpPr/>
          <p:nvPr/>
        </p:nvSpPr>
        <p:spPr>
          <a:xfrm>
            <a:off x="4446720" y="4526280"/>
            <a:ext cx="32666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89" strike="noStrike">
                <a:solidFill>
                  <a:srgbClr val="c2600b"/>
                </a:solidFill>
                <a:latin typeface="Calibri"/>
                <a:ea typeface="Calibri"/>
              </a:rPr>
              <a:t>TEAM ID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Text 33"/>
          <p:cNvSpPr/>
          <p:nvPr/>
        </p:nvSpPr>
        <p:spPr>
          <a:xfrm>
            <a:off x="4446720" y="4718160"/>
            <a:ext cx="32666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95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0b2545"/>
                </a:solidFill>
                <a:latin typeface="Calibri"/>
                <a:ea typeface="Calibri"/>
              </a:rPr>
              <a:t>[TEAM ID]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Shape 34"/>
          <p:cNvSpPr/>
          <p:nvPr/>
        </p:nvSpPr>
        <p:spPr>
          <a:xfrm>
            <a:off x="8107200" y="4425840"/>
            <a:ext cx="3596040" cy="712800"/>
          </a:xfrm>
          <a:prstGeom prst="roundRect">
            <a:avLst>
              <a:gd name="adj" fmla="val 10256"/>
            </a:avLst>
          </a:prstGeom>
          <a:solidFill>
            <a:srgbClr val="f4f7fa"/>
          </a:solidFill>
          <a:ln w="12700">
            <a:solidFill>
              <a:srgbClr val="d6dfe9"/>
            </a:solidFill>
            <a:round/>
          </a:ln>
          <a:effectLst>
            <a:outerShdw algn="bl" blurRad="101520" dir="16200000" dist="50760" kx="0" ky="0" rotWithShape="0" sx="100000" sy="100000">
              <a:srgbClr val="000000">
                <a:alpha val="7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Text 35"/>
          <p:cNvSpPr/>
          <p:nvPr/>
        </p:nvSpPr>
        <p:spPr>
          <a:xfrm>
            <a:off x="8271720" y="4526280"/>
            <a:ext cx="32666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89" strike="noStrike">
                <a:solidFill>
                  <a:srgbClr val="c2600b"/>
                </a:solidFill>
                <a:latin typeface="Calibri"/>
                <a:ea typeface="Calibri"/>
              </a:rPr>
              <a:t>TEAM NAME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Text 36"/>
          <p:cNvSpPr/>
          <p:nvPr/>
        </p:nvSpPr>
        <p:spPr>
          <a:xfrm>
            <a:off x="8271720" y="4718160"/>
            <a:ext cx="32666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95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0b2545"/>
                </a:solidFill>
                <a:latin typeface="Calibri"/>
                <a:ea typeface="Calibri"/>
              </a:rPr>
              <a:t>[TEAM NAME]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Text 37"/>
          <p:cNvSpPr/>
          <p:nvPr/>
        </p:nvSpPr>
        <p:spPr>
          <a:xfrm>
            <a:off x="457200" y="5358240"/>
            <a:ext cx="36572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109" strike="noStrike">
                <a:solidFill>
                  <a:srgbClr val="5b6b7b"/>
                </a:solidFill>
                <a:latin typeface="Calibri"/>
                <a:ea typeface="Calibri"/>
              </a:rPr>
              <a:t>TEAM MEMBERS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Shape 38"/>
          <p:cNvSpPr/>
          <p:nvPr/>
        </p:nvSpPr>
        <p:spPr>
          <a:xfrm>
            <a:off x="457200" y="5632560"/>
            <a:ext cx="1760040" cy="6580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6dfe9"/>
            </a:solidFill>
            <a:round/>
          </a:ln>
          <a:effectLst>
            <a:outerShdw algn="bl" blurRad="101520" dir="16200000" dist="50760" kx="0" ky="0" rotWithShape="0" sx="100000" sy="100000">
              <a:srgbClr val="000000">
                <a:alpha val="7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Shape 39"/>
          <p:cNvSpPr/>
          <p:nvPr/>
        </p:nvSpPr>
        <p:spPr>
          <a:xfrm>
            <a:off x="603360" y="5833800"/>
            <a:ext cx="255600" cy="25560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1" name="Image 3" descr="preencoded.png"/>
          <p:cNvPicPr/>
          <p:nvPr/>
        </p:nvPicPr>
        <p:blipFill>
          <a:blip r:embed="rId4"/>
          <a:stretch/>
        </p:blipFill>
        <p:spPr>
          <a:xfrm>
            <a:off x="663120" y="5893200"/>
            <a:ext cx="136800" cy="136800"/>
          </a:xfrm>
          <a:prstGeom prst="rect">
            <a:avLst/>
          </a:prstGeom>
          <a:ln w="0">
            <a:noFill/>
          </a:ln>
        </p:spPr>
      </p:pic>
      <p:sp>
        <p:nvSpPr>
          <p:cNvPr id="52" name="Text 40"/>
          <p:cNvSpPr/>
          <p:nvPr/>
        </p:nvSpPr>
        <p:spPr>
          <a:xfrm>
            <a:off x="932760" y="5742360"/>
            <a:ext cx="1193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b2545"/>
                </a:solidFill>
                <a:latin typeface="Calibri"/>
                <a:ea typeface="Calibri"/>
              </a:rPr>
              <a:t>[Member 1]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 41"/>
          <p:cNvSpPr/>
          <p:nvPr/>
        </p:nvSpPr>
        <p:spPr>
          <a:xfrm>
            <a:off x="932760" y="5943600"/>
            <a:ext cx="1193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5b6b7b"/>
                </a:solidFill>
                <a:latin typeface="Calibri"/>
                <a:ea typeface="Calibri"/>
              </a:rPr>
              <a:t>Team Lead · Full-Stack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Shape 42"/>
          <p:cNvSpPr/>
          <p:nvPr/>
        </p:nvSpPr>
        <p:spPr>
          <a:xfrm>
            <a:off x="2354760" y="5632560"/>
            <a:ext cx="1760040" cy="6580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6dfe9"/>
            </a:solidFill>
            <a:round/>
          </a:ln>
          <a:effectLst>
            <a:outerShdw algn="bl" blurRad="101520" dir="16200000" dist="50760" kx="0" ky="0" rotWithShape="0" sx="100000" sy="100000">
              <a:srgbClr val="000000">
                <a:alpha val="7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Shape 43"/>
          <p:cNvSpPr/>
          <p:nvPr/>
        </p:nvSpPr>
        <p:spPr>
          <a:xfrm>
            <a:off x="2500920" y="5833800"/>
            <a:ext cx="255600" cy="25560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6" name="Image 4" descr="preencoded.png"/>
          <p:cNvPicPr/>
          <p:nvPr/>
        </p:nvPicPr>
        <p:blipFill>
          <a:blip r:embed="rId5"/>
          <a:stretch/>
        </p:blipFill>
        <p:spPr>
          <a:xfrm>
            <a:off x="2560320" y="5893200"/>
            <a:ext cx="136800" cy="136800"/>
          </a:xfrm>
          <a:prstGeom prst="rect">
            <a:avLst/>
          </a:prstGeom>
          <a:ln w="0">
            <a:noFill/>
          </a:ln>
        </p:spPr>
      </p:pic>
      <p:sp>
        <p:nvSpPr>
          <p:cNvPr id="57" name="Text 44"/>
          <p:cNvSpPr/>
          <p:nvPr/>
        </p:nvSpPr>
        <p:spPr>
          <a:xfrm>
            <a:off x="2829960" y="5742360"/>
            <a:ext cx="1193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b2545"/>
                </a:solidFill>
                <a:latin typeface="Calibri"/>
                <a:ea typeface="Calibri"/>
              </a:rPr>
              <a:t>[Member 2]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Text 45"/>
          <p:cNvSpPr/>
          <p:nvPr/>
        </p:nvSpPr>
        <p:spPr>
          <a:xfrm>
            <a:off x="2829960" y="5943600"/>
            <a:ext cx="1193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5b6b7b"/>
                </a:solidFill>
                <a:latin typeface="Calibri"/>
                <a:ea typeface="Calibri"/>
              </a:rPr>
              <a:t>AI · Computer Vision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Shape 46"/>
          <p:cNvSpPr/>
          <p:nvPr/>
        </p:nvSpPr>
        <p:spPr>
          <a:xfrm>
            <a:off x="4251960" y="5632560"/>
            <a:ext cx="1760040" cy="6580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6dfe9"/>
            </a:solidFill>
            <a:round/>
          </a:ln>
          <a:effectLst>
            <a:outerShdw algn="bl" blurRad="101520" dir="16200000" dist="50760" kx="0" ky="0" rotWithShape="0" sx="100000" sy="100000">
              <a:srgbClr val="000000">
                <a:alpha val="7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Shape 47"/>
          <p:cNvSpPr/>
          <p:nvPr/>
        </p:nvSpPr>
        <p:spPr>
          <a:xfrm>
            <a:off x="4398120" y="5833800"/>
            <a:ext cx="255600" cy="25560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1" name="Image 5" descr="preencoded.png"/>
          <p:cNvPicPr/>
          <p:nvPr/>
        </p:nvPicPr>
        <p:blipFill>
          <a:blip r:embed="rId6"/>
          <a:stretch/>
        </p:blipFill>
        <p:spPr>
          <a:xfrm>
            <a:off x="4457880" y="5893200"/>
            <a:ext cx="136800" cy="136800"/>
          </a:xfrm>
          <a:prstGeom prst="rect">
            <a:avLst/>
          </a:prstGeom>
          <a:ln w="0">
            <a:noFill/>
          </a:ln>
        </p:spPr>
      </p:pic>
      <p:sp>
        <p:nvSpPr>
          <p:cNvPr id="62" name="Text 48"/>
          <p:cNvSpPr/>
          <p:nvPr/>
        </p:nvSpPr>
        <p:spPr>
          <a:xfrm>
            <a:off x="4727520" y="5742360"/>
            <a:ext cx="1193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b2545"/>
                </a:solidFill>
                <a:latin typeface="Calibri"/>
                <a:ea typeface="Calibri"/>
              </a:rPr>
              <a:t>[Member 3]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 49"/>
          <p:cNvSpPr/>
          <p:nvPr/>
        </p:nvSpPr>
        <p:spPr>
          <a:xfrm>
            <a:off x="4727520" y="5943600"/>
            <a:ext cx="1193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5b6b7b"/>
                </a:solidFill>
                <a:latin typeface="Calibri"/>
                <a:ea typeface="Calibri"/>
              </a:rPr>
              <a:t>Backend · APIs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Shape 50"/>
          <p:cNvSpPr/>
          <p:nvPr/>
        </p:nvSpPr>
        <p:spPr>
          <a:xfrm>
            <a:off x="6149520" y="5632560"/>
            <a:ext cx="1760040" cy="6580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6dfe9"/>
            </a:solidFill>
            <a:round/>
          </a:ln>
          <a:effectLst>
            <a:outerShdw algn="bl" blurRad="101520" dir="16200000" dist="50760" kx="0" ky="0" rotWithShape="0" sx="100000" sy="100000">
              <a:srgbClr val="000000">
                <a:alpha val="7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Shape 51"/>
          <p:cNvSpPr/>
          <p:nvPr/>
        </p:nvSpPr>
        <p:spPr>
          <a:xfrm>
            <a:off x="6295680" y="5833800"/>
            <a:ext cx="255600" cy="25560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6" name="Image 6" descr="preencoded.png"/>
          <p:cNvPicPr/>
          <p:nvPr/>
        </p:nvPicPr>
        <p:blipFill>
          <a:blip r:embed="rId7"/>
          <a:stretch/>
        </p:blipFill>
        <p:spPr>
          <a:xfrm>
            <a:off x="6355080" y="5893200"/>
            <a:ext cx="136800" cy="136800"/>
          </a:xfrm>
          <a:prstGeom prst="rect">
            <a:avLst/>
          </a:prstGeom>
          <a:ln w="0">
            <a:noFill/>
          </a:ln>
        </p:spPr>
      </p:pic>
      <p:sp>
        <p:nvSpPr>
          <p:cNvPr id="67" name="Text 52"/>
          <p:cNvSpPr/>
          <p:nvPr/>
        </p:nvSpPr>
        <p:spPr>
          <a:xfrm>
            <a:off x="6624720" y="5742360"/>
            <a:ext cx="1193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b2545"/>
                </a:solidFill>
                <a:latin typeface="Calibri"/>
                <a:ea typeface="Calibri"/>
              </a:rPr>
              <a:t>[Member 4]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 53"/>
          <p:cNvSpPr/>
          <p:nvPr/>
        </p:nvSpPr>
        <p:spPr>
          <a:xfrm>
            <a:off x="6624720" y="5943600"/>
            <a:ext cx="1193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5b6b7b"/>
                </a:solidFill>
                <a:latin typeface="Calibri"/>
                <a:ea typeface="Calibri"/>
              </a:rPr>
              <a:t>Frontend · UI/UX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Shape 54"/>
          <p:cNvSpPr/>
          <p:nvPr/>
        </p:nvSpPr>
        <p:spPr>
          <a:xfrm>
            <a:off x="8046720" y="5632560"/>
            <a:ext cx="1760040" cy="6580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6dfe9"/>
            </a:solidFill>
            <a:round/>
          </a:ln>
          <a:effectLst>
            <a:outerShdw algn="bl" blurRad="101520" dir="16200000" dist="50760" kx="0" ky="0" rotWithShape="0" sx="100000" sy="100000">
              <a:srgbClr val="000000">
                <a:alpha val="7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Shape 55"/>
          <p:cNvSpPr/>
          <p:nvPr/>
        </p:nvSpPr>
        <p:spPr>
          <a:xfrm>
            <a:off x="8192880" y="5833800"/>
            <a:ext cx="255600" cy="25560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1" name="Image 7" descr="preencoded.png"/>
          <p:cNvPicPr/>
          <p:nvPr/>
        </p:nvPicPr>
        <p:blipFill>
          <a:blip r:embed="rId8"/>
          <a:stretch/>
        </p:blipFill>
        <p:spPr>
          <a:xfrm>
            <a:off x="8252640" y="5893200"/>
            <a:ext cx="136800" cy="136800"/>
          </a:xfrm>
          <a:prstGeom prst="rect">
            <a:avLst/>
          </a:prstGeom>
          <a:ln w="0">
            <a:noFill/>
          </a:ln>
        </p:spPr>
      </p:pic>
      <p:sp>
        <p:nvSpPr>
          <p:cNvPr id="72" name="Text 56"/>
          <p:cNvSpPr/>
          <p:nvPr/>
        </p:nvSpPr>
        <p:spPr>
          <a:xfrm>
            <a:off x="8522280" y="5742360"/>
            <a:ext cx="1193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b2545"/>
                </a:solidFill>
                <a:latin typeface="Calibri"/>
                <a:ea typeface="Calibri"/>
              </a:rPr>
              <a:t>[Member 5]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 57"/>
          <p:cNvSpPr/>
          <p:nvPr/>
        </p:nvSpPr>
        <p:spPr>
          <a:xfrm>
            <a:off x="8522280" y="5943600"/>
            <a:ext cx="1193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5b6b7b"/>
                </a:solidFill>
                <a:latin typeface="Calibri"/>
                <a:ea typeface="Calibri"/>
              </a:rPr>
              <a:t>GIS · Data Engineering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Shape 58"/>
          <p:cNvSpPr/>
          <p:nvPr/>
        </p:nvSpPr>
        <p:spPr>
          <a:xfrm>
            <a:off x="9944280" y="5632560"/>
            <a:ext cx="1760040" cy="6580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6dfe9"/>
            </a:solidFill>
            <a:round/>
          </a:ln>
          <a:effectLst>
            <a:outerShdw algn="bl" blurRad="101520" dir="16200000" dist="50760" kx="0" ky="0" rotWithShape="0" sx="100000" sy="100000">
              <a:srgbClr val="000000">
                <a:alpha val="7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Shape 59"/>
          <p:cNvSpPr/>
          <p:nvPr/>
        </p:nvSpPr>
        <p:spPr>
          <a:xfrm>
            <a:off x="10090440" y="5833800"/>
            <a:ext cx="255600" cy="25560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6" name="Image 8" descr="preencoded.png"/>
          <p:cNvPicPr/>
          <p:nvPr/>
        </p:nvPicPr>
        <p:blipFill>
          <a:blip r:embed="rId9"/>
          <a:stretch/>
        </p:blipFill>
        <p:spPr>
          <a:xfrm>
            <a:off x="10149840" y="5893200"/>
            <a:ext cx="136800" cy="136800"/>
          </a:xfrm>
          <a:prstGeom prst="rect">
            <a:avLst/>
          </a:prstGeom>
          <a:ln w="0">
            <a:noFill/>
          </a:ln>
        </p:spPr>
      </p:pic>
      <p:sp>
        <p:nvSpPr>
          <p:cNvPr id="77" name="Text 60"/>
          <p:cNvSpPr/>
          <p:nvPr/>
        </p:nvSpPr>
        <p:spPr>
          <a:xfrm>
            <a:off x="10419480" y="5742360"/>
            <a:ext cx="1193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b2545"/>
                </a:solidFill>
                <a:latin typeface="Calibri"/>
                <a:ea typeface="Calibri"/>
              </a:rPr>
              <a:t>[Member 6]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 61"/>
          <p:cNvSpPr/>
          <p:nvPr/>
        </p:nvSpPr>
        <p:spPr>
          <a:xfrm>
            <a:off x="10419480" y="5943600"/>
            <a:ext cx="1193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5b6b7b"/>
                </a:solidFill>
                <a:latin typeface="Calibri"/>
                <a:ea typeface="Calibri"/>
              </a:rPr>
              <a:t>DevOps · Security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 0"/>
          <p:cNvSpPr/>
          <p:nvPr/>
        </p:nvSpPr>
        <p:spPr>
          <a:xfrm>
            <a:off x="457200" y="292680"/>
            <a:ext cx="112467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38" strike="noStrike">
                <a:solidFill>
                  <a:srgbClr val="0b2545"/>
                </a:solidFill>
                <a:latin typeface="Arial"/>
                <a:ea typeface="Arial"/>
              </a:rPr>
              <a:t>FROM CCTV FOOTAGE TO ACTIONABLE INTELLIGENCE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 1"/>
          <p:cNvSpPr/>
          <p:nvPr/>
        </p:nvSpPr>
        <p:spPr>
          <a:xfrm>
            <a:off x="457200" y="768240"/>
            <a:ext cx="11246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b6b7b"/>
                </a:solidFill>
                <a:latin typeface="Calibri"/>
                <a:ea typeface="Calibri"/>
              </a:rPr>
              <a:t>Proposed Solution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Shape 2"/>
          <p:cNvSpPr/>
          <p:nvPr/>
        </p:nvSpPr>
        <p:spPr>
          <a:xfrm>
            <a:off x="457200" y="1115640"/>
            <a:ext cx="4205880" cy="566640"/>
          </a:xfrm>
          <a:prstGeom prst="roundRect">
            <a:avLst>
              <a:gd name="adj" fmla="val 12903"/>
            </a:avLst>
          </a:prstGeom>
          <a:solidFill>
            <a:srgbClr val="f4f7fa"/>
          </a:solidFill>
          <a:ln w="12700">
            <a:solidFill>
              <a:srgbClr val="d6dfe9"/>
            </a:solidFill>
            <a:round/>
          </a:ln>
          <a:effectLst>
            <a:outerShdw algn="bl" blurRad="101520" dir="16200000" dist="50760" kx="0" ky="0" rotWithShape="0" sx="100000" sy="100000">
              <a:srgbClr val="000000">
                <a:alpha val="7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 3"/>
          <p:cNvSpPr/>
          <p:nvPr/>
        </p:nvSpPr>
        <p:spPr>
          <a:xfrm>
            <a:off x="603360" y="1188720"/>
            <a:ext cx="39132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29" strike="noStrike">
                <a:solidFill>
                  <a:srgbClr val="0b2545"/>
                </a:solidFill>
                <a:latin typeface="Arial"/>
                <a:ea typeface="Arial"/>
              </a:rPr>
              <a:t>26+ DEPARTMENTS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 4"/>
          <p:cNvSpPr/>
          <p:nvPr/>
        </p:nvSpPr>
        <p:spPr>
          <a:xfrm>
            <a:off x="603360" y="1408320"/>
            <a:ext cx="39132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5b6b7b"/>
                </a:solidFill>
                <a:latin typeface="Calibri"/>
                <a:ea typeface="Calibri"/>
              </a:rPr>
              <a:t>Police · Traffic · Municipal · Transport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Shape 5"/>
          <p:cNvSpPr/>
          <p:nvPr/>
        </p:nvSpPr>
        <p:spPr>
          <a:xfrm>
            <a:off x="2560320" y="1709640"/>
            <a:ext cx="360" cy="114480"/>
          </a:xfrm>
          <a:prstGeom prst="line">
            <a:avLst/>
          </a:prstGeom>
          <a:ln w="22225">
            <a:solidFill>
              <a:srgbClr val="c2600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Shape 6"/>
          <p:cNvSpPr/>
          <p:nvPr/>
        </p:nvSpPr>
        <p:spPr>
          <a:xfrm>
            <a:off x="457200" y="1851840"/>
            <a:ext cx="4205880" cy="566640"/>
          </a:xfrm>
          <a:prstGeom prst="roundRect">
            <a:avLst>
              <a:gd name="adj" fmla="val 12903"/>
            </a:avLst>
          </a:prstGeom>
          <a:solidFill>
            <a:srgbClr val="f4f7fa"/>
          </a:solidFill>
          <a:ln w="12700">
            <a:solidFill>
              <a:srgbClr val="d6dfe9"/>
            </a:solidFill>
            <a:round/>
          </a:ln>
          <a:effectLst>
            <a:outerShdw algn="bl" blurRad="101520" dir="16200000" dist="50760" kx="0" ky="0" rotWithShape="0" sx="100000" sy="100000">
              <a:srgbClr val="000000">
                <a:alpha val="7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 7"/>
          <p:cNvSpPr/>
          <p:nvPr/>
        </p:nvSpPr>
        <p:spPr>
          <a:xfrm>
            <a:off x="603360" y="1924920"/>
            <a:ext cx="39132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29" strike="noStrike">
                <a:solidFill>
                  <a:srgbClr val="0b2545"/>
                </a:solidFill>
                <a:latin typeface="Arial"/>
                <a:ea typeface="Arial"/>
              </a:rPr>
              <a:t>CCTV / VMS SOURCES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 8"/>
          <p:cNvSpPr/>
          <p:nvPr/>
        </p:nvSpPr>
        <p:spPr>
          <a:xfrm>
            <a:off x="603360" y="2144160"/>
            <a:ext cx="39132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5b6b7b"/>
                </a:solidFill>
                <a:latin typeface="Calibri"/>
                <a:ea typeface="Calibri"/>
              </a:rPr>
              <a:t>RTSP · HLS · ONVIF · Vendor VMS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Shape 9"/>
          <p:cNvSpPr/>
          <p:nvPr/>
        </p:nvSpPr>
        <p:spPr>
          <a:xfrm>
            <a:off x="2560320" y="2445840"/>
            <a:ext cx="360" cy="114480"/>
          </a:xfrm>
          <a:prstGeom prst="line">
            <a:avLst/>
          </a:prstGeom>
          <a:ln w="22225">
            <a:solidFill>
              <a:srgbClr val="c2600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Shape 10"/>
          <p:cNvSpPr/>
          <p:nvPr/>
        </p:nvSpPr>
        <p:spPr>
          <a:xfrm>
            <a:off x="457200" y="2587680"/>
            <a:ext cx="4205880" cy="566640"/>
          </a:xfrm>
          <a:prstGeom prst="roundRect">
            <a:avLst>
              <a:gd name="adj" fmla="val 12903"/>
            </a:avLst>
          </a:prstGeom>
          <a:solidFill>
            <a:srgbClr val="0b2545"/>
          </a:solidFill>
          <a:ln w="12700">
            <a:solidFill>
              <a:srgbClr val="0b2545"/>
            </a:solidFill>
            <a:round/>
          </a:ln>
          <a:effectLst>
            <a:outerShdw algn="bl" blurRad="101520" dir="5400000" dist="12600" kx="0" ky="0" rotWithShape="0" sx="100000" sy="100000">
              <a:srgbClr val="9fb0c2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Text 11"/>
          <p:cNvSpPr/>
          <p:nvPr/>
        </p:nvSpPr>
        <p:spPr>
          <a:xfrm>
            <a:off x="603360" y="2660760"/>
            <a:ext cx="39132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29" strike="noStrike">
                <a:solidFill>
                  <a:srgbClr val="ffffff"/>
                </a:solidFill>
                <a:latin typeface="Arial"/>
                <a:ea typeface="Arial"/>
              </a:rPr>
              <a:t>SENTINEL INTELLIGENCE LAYER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 12"/>
          <p:cNvSpPr/>
          <p:nvPr/>
        </p:nvSpPr>
        <p:spPr>
          <a:xfrm>
            <a:off x="603360" y="2880360"/>
            <a:ext cx="39132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bfd2e8"/>
                </a:solidFill>
                <a:latin typeface="Calibri"/>
                <a:ea typeface="Calibri"/>
              </a:rPr>
              <a:t>Ingestion · Federation · Registry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Shape 13"/>
          <p:cNvSpPr/>
          <p:nvPr/>
        </p:nvSpPr>
        <p:spPr>
          <a:xfrm>
            <a:off x="2560320" y="3182040"/>
            <a:ext cx="360" cy="114120"/>
          </a:xfrm>
          <a:prstGeom prst="line">
            <a:avLst/>
          </a:prstGeom>
          <a:ln w="22225">
            <a:solidFill>
              <a:srgbClr val="c2600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Shape 14"/>
          <p:cNvSpPr/>
          <p:nvPr/>
        </p:nvSpPr>
        <p:spPr>
          <a:xfrm>
            <a:off x="457200" y="3323880"/>
            <a:ext cx="4205880" cy="566640"/>
          </a:xfrm>
          <a:prstGeom prst="roundRect">
            <a:avLst>
              <a:gd name="adj" fmla="val 12903"/>
            </a:avLst>
          </a:prstGeom>
          <a:solidFill>
            <a:srgbClr val="f4f7fa"/>
          </a:solidFill>
          <a:ln w="12700">
            <a:solidFill>
              <a:srgbClr val="d6dfe9"/>
            </a:solidFill>
            <a:round/>
          </a:ln>
          <a:effectLst>
            <a:outerShdw algn="bl" blurRad="101520" dir="16200000" dist="50760" kx="0" ky="0" rotWithShape="0" sx="100000" sy="100000">
              <a:srgbClr val="000000">
                <a:alpha val="7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 15"/>
          <p:cNvSpPr/>
          <p:nvPr/>
        </p:nvSpPr>
        <p:spPr>
          <a:xfrm>
            <a:off x="603360" y="3396960"/>
            <a:ext cx="39132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29" strike="noStrike">
                <a:solidFill>
                  <a:srgbClr val="0b2545"/>
                </a:solidFill>
                <a:latin typeface="Arial"/>
                <a:ea typeface="Arial"/>
              </a:rPr>
              <a:t>AI DETECTION · ANPR · TRACKING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 16"/>
          <p:cNvSpPr/>
          <p:nvPr/>
        </p:nvSpPr>
        <p:spPr>
          <a:xfrm>
            <a:off x="603360" y="3616560"/>
            <a:ext cx="39132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5b6b7b"/>
                </a:solidFill>
                <a:latin typeface="Calibri"/>
                <a:ea typeface="Calibri"/>
              </a:rPr>
              <a:t>Vehicle, plate and object analytics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Shape 17"/>
          <p:cNvSpPr/>
          <p:nvPr/>
        </p:nvSpPr>
        <p:spPr>
          <a:xfrm>
            <a:off x="2560320" y="3917880"/>
            <a:ext cx="360" cy="114480"/>
          </a:xfrm>
          <a:prstGeom prst="line">
            <a:avLst/>
          </a:prstGeom>
          <a:ln w="22225">
            <a:solidFill>
              <a:srgbClr val="c2600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Shape 18"/>
          <p:cNvSpPr/>
          <p:nvPr/>
        </p:nvSpPr>
        <p:spPr>
          <a:xfrm>
            <a:off x="457200" y="4060080"/>
            <a:ext cx="4205880" cy="566640"/>
          </a:xfrm>
          <a:prstGeom prst="roundRect">
            <a:avLst>
              <a:gd name="adj" fmla="val 12903"/>
            </a:avLst>
          </a:prstGeom>
          <a:solidFill>
            <a:srgbClr val="f4f7fa"/>
          </a:solidFill>
          <a:ln w="12700">
            <a:solidFill>
              <a:srgbClr val="d6dfe9"/>
            </a:solidFill>
            <a:round/>
          </a:ln>
          <a:effectLst>
            <a:outerShdw algn="bl" blurRad="101520" dir="16200000" dist="50760" kx="0" ky="0" rotWithShape="0" sx="100000" sy="100000">
              <a:srgbClr val="000000">
                <a:alpha val="7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 19"/>
          <p:cNvSpPr/>
          <p:nvPr/>
        </p:nvSpPr>
        <p:spPr>
          <a:xfrm>
            <a:off x="603360" y="4133160"/>
            <a:ext cx="39132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29" strike="noStrike">
                <a:solidFill>
                  <a:srgbClr val="0b2545"/>
                </a:solidFill>
                <a:latin typeface="Arial"/>
                <a:ea typeface="Arial"/>
              </a:rPr>
              <a:t>EVENT CORRELATION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 20"/>
          <p:cNvSpPr/>
          <p:nvPr/>
        </p:nvSpPr>
        <p:spPr>
          <a:xfrm>
            <a:off x="603360" y="4352400"/>
            <a:ext cx="39132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5b6b7b"/>
                </a:solidFill>
                <a:latin typeface="Calibri"/>
                <a:ea typeface="Calibri"/>
              </a:rPr>
              <a:t>Plate + time + camera + location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Shape 21"/>
          <p:cNvSpPr/>
          <p:nvPr/>
        </p:nvSpPr>
        <p:spPr>
          <a:xfrm>
            <a:off x="2560320" y="4654080"/>
            <a:ext cx="360" cy="114480"/>
          </a:xfrm>
          <a:prstGeom prst="line">
            <a:avLst/>
          </a:prstGeom>
          <a:ln w="22225">
            <a:solidFill>
              <a:srgbClr val="c2600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Shape 22"/>
          <p:cNvSpPr/>
          <p:nvPr/>
        </p:nvSpPr>
        <p:spPr>
          <a:xfrm>
            <a:off x="457200" y="4795920"/>
            <a:ext cx="4205880" cy="566640"/>
          </a:xfrm>
          <a:prstGeom prst="roundRect">
            <a:avLst>
              <a:gd name="adj" fmla="val 12903"/>
            </a:avLst>
          </a:prstGeom>
          <a:solidFill>
            <a:srgbClr val="f4f7fa"/>
          </a:solidFill>
          <a:ln w="12700">
            <a:solidFill>
              <a:srgbClr val="d6dfe9"/>
            </a:solidFill>
            <a:round/>
          </a:ln>
          <a:effectLst>
            <a:outerShdw algn="bl" blurRad="101520" dir="16200000" dist="50760" kx="0" ky="0" rotWithShape="0" sx="100000" sy="100000">
              <a:srgbClr val="000000">
                <a:alpha val="7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 23"/>
          <p:cNvSpPr/>
          <p:nvPr/>
        </p:nvSpPr>
        <p:spPr>
          <a:xfrm>
            <a:off x="603360" y="4869360"/>
            <a:ext cx="39132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29" strike="noStrike">
                <a:solidFill>
                  <a:srgbClr val="0b2545"/>
                </a:solidFill>
                <a:latin typeface="Arial"/>
                <a:ea typeface="Arial"/>
              </a:rPr>
              <a:t>INVESTIGATION COPILOT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 24"/>
          <p:cNvSpPr/>
          <p:nvPr/>
        </p:nvSpPr>
        <p:spPr>
          <a:xfrm>
            <a:off x="603360" y="5088600"/>
            <a:ext cx="39132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5b6b7b"/>
                </a:solidFill>
                <a:latin typeface="Calibri"/>
                <a:ea typeface="Calibri"/>
              </a:rPr>
              <a:t>Natural-language search &amp; timeline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Shape 25"/>
          <p:cNvSpPr/>
          <p:nvPr/>
        </p:nvSpPr>
        <p:spPr>
          <a:xfrm>
            <a:off x="2560320" y="5390280"/>
            <a:ext cx="360" cy="114120"/>
          </a:xfrm>
          <a:prstGeom prst="line">
            <a:avLst/>
          </a:prstGeom>
          <a:ln w="22225">
            <a:solidFill>
              <a:srgbClr val="c2600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Shape 26"/>
          <p:cNvSpPr/>
          <p:nvPr/>
        </p:nvSpPr>
        <p:spPr>
          <a:xfrm>
            <a:off x="457200" y="5532120"/>
            <a:ext cx="4205880" cy="566640"/>
          </a:xfrm>
          <a:prstGeom prst="roundRect">
            <a:avLst>
              <a:gd name="adj" fmla="val 12903"/>
            </a:avLst>
          </a:prstGeom>
          <a:solidFill>
            <a:srgbClr val="f4f7fa"/>
          </a:solidFill>
          <a:ln w="12700">
            <a:solidFill>
              <a:srgbClr val="d6dfe9"/>
            </a:solidFill>
            <a:round/>
          </a:ln>
          <a:effectLst>
            <a:outerShdw algn="bl" blurRad="101520" dir="16200000" dist="50760" kx="0" ky="0" rotWithShape="0" sx="100000" sy="100000">
              <a:srgbClr val="000000">
                <a:alpha val="7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 27"/>
          <p:cNvSpPr/>
          <p:nvPr/>
        </p:nvSpPr>
        <p:spPr>
          <a:xfrm>
            <a:off x="603360" y="5605200"/>
            <a:ext cx="39132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29" strike="noStrike">
                <a:solidFill>
                  <a:srgbClr val="0b2545"/>
                </a:solidFill>
                <a:latin typeface="Arial"/>
                <a:ea typeface="Arial"/>
              </a:rPr>
              <a:t>ALERTS → INCIDENTS → EVIDENCE → CASES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 28"/>
          <p:cNvSpPr/>
          <p:nvPr/>
        </p:nvSpPr>
        <p:spPr>
          <a:xfrm>
            <a:off x="603360" y="5824800"/>
            <a:ext cx="39132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5b6b7b"/>
                </a:solidFill>
                <a:latin typeface="Calibri"/>
                <a:ea typeface="Calibri"/>
              </a:rPr>
              <a:t>Case-ready, auditable output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 29"/>
          <p:cNvSpPr/>
          <p:nvPr/>
        </p:nvSpPr>
        <p:spPr>
          <a:xfrm>
            <a:off x="4956120" y="1115640"/>
            <a:ext cx="36572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109" strike="noStrike">
                <a:solidFill>
                  <a:srgbClr val="c2600b"/>
                </a:solidFill>
                <a:latin typeface="Calibri"/>
                <a:ea typeface="Calibri"/>
              </a:rPr>
              <a:t>CORE INNOVATIONS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Shape 30"/>
          <p:cNvSpPr/>
          <p:nvPr/>
        </p:nvSpPr>
        <p:spPr>
          <a:xfrm>
            <a:off x="4956120" y="1389960"/>
            <a:ext cx="3273120" cy="113364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6dfe9"/>
            </a:solidFill>
            <a:round/>
          </a:ln>
          <a:effectLst>
            <a:outerShdw algn="bl" blurRad="101520" dir="5400000" dist="12600" kx="0" ky="0" rotWithShape="0" sx="100000" sy="100000">
              <a:srgbClr val="9fb0c2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Shape 31"/>
          <p:cNvSpPr/>
          <p:nvPr/>
        </p:nvSpPr>
        <p:spPr>
          <a:xfrm>
            <a:off x="5139000" y="1572840"/>
            <a:ext cx="383760" cy="383760"/>
          </a:xfrm>
          <a:prstGeom prst="ellipse">
            <a:avLst/>
          </a:prstGeom>
          <a:solidFill>
            <a:srgbClr val="eaf0f7"/>
          </a:solidFill>
          <a:ln w="12700">
            <a:solidFill>
              <a:srgbClr val="eaf0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1" name="Image 0" descr="preencoded.png"/>
          <p:cNvPicPr/>
          <p:nvPr/>
        </p:nvPicPr>
        <p:blipFill>
          <a:blip r:embed="rId1"/>
          <a:stretch/>
        </p:blipFill>
        <p:spPr>
          <a:xfrm>
            <a:off x="5196600" y="1630440"/>
            <a:ext cx="268560" cy="268560"/>
          </a:xfrm>
          <a:prstGeom prst="rect">
            <a:avLst/>
          </a:prstGeom>
          <a:ln w="0">
            <a:noFill/>
          </a:ln>
        </p:spPr>
      </p:pic>
      <p:sp>
        <p:nvSpPr>
          <p:cNvPr id="112" name="Text 32"/>
          <p:cNvSpPr/>
          <p:nvPr/>
        </p:nvSpPr>
        <p:spPr>
          <a:xfrm>
            <a:off x="5614560" y="1572840"/>
            <a:ext cx="2431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95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b2545"/>
                </a:solidFill>
                <a:latin typeface="Arial"/>
                <a:ea typeface="Arial"/>
              </a:rPr>
              <a:t>Unified CCTV Registry + GIS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 33"/>
          <p:cNvSpPr/>
          <p:nvPr/>
        </p:nvSpPr>
        <p:spPr>
          <a:xfrm>
            <a:off x="5139000" y="2030040"/>
            <a:ext cx="29073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b6b7b"/>
                </a:solidFill>
                <a:latin typeface="Calibri"/>
                <a:ea typeface="Calibri"/>
              </a:rPr>
              <a:t>Every camera mapped, searchable, health-monitored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Shape 34"/>
          <p:cNvSpPr/>
          <p:nvPr/>
        </p:nvSpPr>
        <p:spPr>
          <a:xfrm>
            <a:off x="8449200" y="1389960"/>
            <a:ext cx="3273120" cy="113364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6dfe9"/>
            </a:solidFill>
            <a:round/>
          </a:ln>
          <a:effectLst>
            <a:outerShdw algn="bl" blurRad="101520" dir="5400000" dist="12600" kx="0" ky="0" rotWithShape="0" sx="100000" sy="100000">
              <a:srgbClr val="9fb0c2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Shape 35"/>
          <p:cNvSpPr/>
          <p:nvPr/>
        </p:nvSpPr>
        <p:spPr>
          <a:xfrm>
            <a:off x="8632080" y="1572840"/>
            <a:ext cx="383760" cy="383760"/>
          </a:xfrm>
          <a:prstGeom prst="ellipse">
            <a:avLst/>
          </a:prstGeom>
          <a:solidFill>
            <a:srgbClr val="eaf0f7"/>
          </a:solidFill>
          <a:ln w="12700">
            <a:solidFill>
              <a:srgbClr val="eaf0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6" name="Image 1" descr="preencoded.png"/>
          <p:cNvPicPr/>
          <p:nvPr/>
        </p:nvPicPr>
        <p:blipFill>
          <a:blip r:embed="rId2"/>
          <a:stretch/>
        </p:blipFill>
        <p:spPr>
          <a:xfrm>
            <a:off x="8689680" y="1630440"/>
            <a:ext cx="268560" cy="268560"/>
          </a:xfrm>
          <a:prstGeom prst="rect">
            <a:avLst/>
          </a:prstGeom>
          <a:ln w="0">
            <a:noFill/>
          </a:ln>
        </p:spPr>
      </p:pic>
      <p:sp>
        <p:nvSpPr>
          <p:cNvPr id="117" name="Text 36"/>
          <p:cNvSpPr/>
          <p:nvPr/>
        </p:nvSpPr>
        <p:spPr>
          <a:xfrm>
            <a:off x="9107280" y="1572840"/>
            <a:ext cx="2431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95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b2545"/>
                </a:solidFill>
                <a:latin typeface="Arial"/>
                <a:ea typeface="Arial"/>
              </a:rPr>
              <a:t>Cross-Camera Vehicle Intelligence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 37"/>
          <p:cNvSpPr/>
          <p:nvPr/>
        </p:nvSpPr>
        <p:spPr>
          <a:xfrm>
            <a:off x="8632080" y="2030040"/>
            <a:ext cx="29073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b6b7b"/>
                </a:solidFill>
                <a:latin typeface="Calibri"/>
                <a:ea typeface="Calibri"/>
              </a:rPr>
              <a:t>Plate + appearance + time + geography correlation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Shape 38"/>
          <p:cNvSpPr/>
          <p:nvPr/>
        </p:nvSpPr>
        <p:spPr>
          <a:xfrm>
            <a:off x="4956120" y="2706480"/>
            <a:ext cx="3273120" cy="113364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6dfe9"/>
            </a:solidFill>
            <a:round/>
          </a:ln>
          <a:effectLst>
            <a:outerShdw algn="bl" blurRad="101520" dir="5400000" dist="12600" kx="0" ky="0" rotWithShape="0" sx="100000" sy="100000">
              <a:srgbClr val="9fb0c2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Shape 39"/>
          <p:cNvSpPr/>
          <p:nvPr/>
        </p:nvSpPr>
        <p:spPr>
          <a:xfrm>
            <a:off x="5139000" y="2889360"/>
            <a:ext cx="383760" cy="383760"/>
          </a:xfrm>
          <a:prstGeom prst="ellipse">
            <a:avLst/>
          </a:prstGeom>
          <a:solidFill>
            <a:srgbClr val="eaf0f7"/>
          </a:solidFill>
          <a:ln w="12700">
            <a:solidFill>
              <a:srgbClr val="eaf0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1" name="Image 2" descr="preencoded.png"/>
          <p:cNvPicPr/>
          <p:nvPr/>
        </p:nvPicPr>
        <p:blipFill>
          <a:blip r:embed="rId3"/>
          <a:stretch/>
        </p:blipFill>
        <p:spPr>
          <a:xfrm>
            <a:off x="5196600" y="2946960"/>
            <a:ext cx="268560" cy="268560"/>
          </a:xfrm>
          <a:prstGeom prst="rect">
            <a:avLst/>
          </a:prstGeom>
          <a:ln w="0">
            <a:noFill/>
          </a:ln>
        </p:spPr>
      </p:pic>
      <p:sp>
        <p:nvSpPr>
          <p:cNvPr id="122" name="Text 40"/>
          <p:cNvSpPr/>
          <p:nvPr/>
        </p:nvSpPr>
        <p:spPr>
          <a:xfrm>
            <a:off x="5614560" y="2889360"/>
            <a:ext cx="2431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95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b2545"/>
                </a:solidFill>
                <a:latin typeface="Arial"/>
                <a:ea typeface="Arial"/>
              </a:rPr>
              <a:t>AI Investigation Copilot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 41"/>
          <p:cNvSpPr/>
          <p:nvPr/>
        </p:nvSpPr>
        <p:spPr>
          <a:xfrm>
            <a:off x="5139000" y="3346560"/>
            <a:ext cx="29073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b6b7b"/>
                </a:solidFill>
                <a:latin typeface="Calibri"/>
                <a:ea typeface="Calibri"/>
              </a:rPr>
              <a:t>Ask a question — get a journey, map and timeline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Shape 42"/>
          <p:cNvSpPr/>
          <p:nvPr/>
        </p:nvSpPr>
        <p:spPr>
          <a:xfrm>
            <a:off x="8449200" y="2706480"/>
            <a:ext cx="3273120" cy="113364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6dfe9"/>
            </a:solidFill>
            <a:round/>
          </a:ln>
          <a:effectLst>
            <a:outerShdw algn="bl" blurRad="101520" dir="5400000" dist="12600" kx="0" ky="0" rotWithShape="0" sx="100000" sy="100000">
              <a:srgbClr val="9fb0c2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Shape 43"/>
          <p:cNvSpPr/>
          <p:nvPr/>
        </p:nvSpPr>
        <p:spPr>
          <a:xfrm>
            <a:off x="8632080" y="2889360"/>
            <a:ext cx="383760" cy="383760"/>
          </a:xfrm>
          <a:prstGeom prst="ellipse">
            <a:avLst/>
          </a:prstGeom>
          <a:solidFill>
            <a:srgbClr val="eaf0f7"/>
          </a:solidFill>
          <a:ln w="12700">
            <a:solidFill>
              <a:srgbClr val="eaf0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6" name="Image 3" descr="preencoded.png"/>
          <p:cNvPicPr/>
          <p:nvPr/>
        </p:nvPicPr>
        <p:blipFill>
          <a:blip r:embed="rId4"/>
          <a:stretch/>
        </p:blipFill>
        <p:spPr>
          <a:xfrm>
            <a:off x="8689680" y="2946960"/>
            <a:ext cx="268560" cy="268560"/>
          </a:xfrm>
          <a:prstGeom prst="rect">
            <a:avLst/>
          </a:prstGeom>
          <a:ln w="0">
            <a:noFill/>
          </a:ln>
        </p:spPr>
      </p:pic>
      <p:sp>
        <p:nvSpPr>
          <p:cNvPr id="127" name="Text 44"/>
          <p:cNvSpPr/>
          <p:nvPr/>
        </p:nvSpPr>
        <p:spPr>
          <a:xfrm>
            <a:off x="9107280" y="2889360"/>
            <a:ext cx="2431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95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b2545"/>
                </a:solidFill>
                <a:latin typeface="Arial"/>
                <a:ea typeface="Arial"/>
              </a:rPr>
              <a:t>Real-Time Alerts &amp; Evidence Chain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Text 45"/>
          <p:cNvSpPr/>
          <p:nvPr/>
        </p:nvSpPr>
        <p:spPr>
          <a:xfrm>
            <a:off x="8632080" y="3346560"/>
            <a:ext cx="29073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b6b7b"/>
                </a:solidFill>
                <a:latin typeface="Calibri"/>
                <a:ea typeface="Calibri"/>
              </a:rPr>
              <a:t>Watchlist hits to court-ready, audited evidence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 46"/>
          <p:cNvSpPr/>
          <p:nvPr/>
        </p:nvSpPr>
        <p:spPr>
          <a:xfrm>
            <a:off x="4956120" y="4041720"/>
            <a:ext cx="36572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109" strike="noStrike">
                <a:solidFill>
                  <a:srgbClr val="c2600b"/>
                </a:solidFill>
                <a:latin typeface="Calibri"/>
                <a:ea typeface="Calibri"/>
              </a:rPr>
              <a:t>WHY SENTINEL?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Shape 47"/>
          <p:cNvSpPr/>
          <p:nvPr/>
        </p:nvSpPr>
        <p:spPr>
          <a:xfrm>
            <a:off x="4956120" y="4316040"/>
            <a:ext cx="3273120" cy="1919880"/>
          </a:xfrm>
          <a:prstGeom prst="roundRect">
            <a:avLst>
              <a:gd name="adj" fmla="val 3810"/>
            </a:avLst>
          </a:prstGeom>
          <a:solidFill>
            <a:srgbClr val="f4f7fa"/>
          </a:solidFill>
          <a:ln w="12700">
            <a:solidFill>
              <a:srgbClr val="d6dfe9"/>
            </a:solidFill>
            <a:round/>
          </a:ln>
          <a:effectLst>
            <a:outerShdw algn="bl" blurRad="101520" dir="16200000" dist="50760" kx="0" ky="0" rotWithShape="0" sx="100000" sy="100000">
              <a:srgbClr val="000000">
                <a:alpha val="7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 48"/>
          <p:cNvSpPr/>
          <p:nvPr/>
        </p:nvSpPr>
        <p:spPr>
          <a:xfrm>
            <a:off x="5139000" y="4462200"/>
            <a:ext cx="29073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97" strike="noStrike">
                <a:solidFill>
                  <a:srgbClr val="7a8794"/>
                </a:solidFill>
                <a:latin typeface="Arial"/>
                <a:ea typeface="Arial"/>
              </a:rPr>
              <a:t>TODAY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Shape 49"/>
          <p:cNvSpPr/>
          <p:nvPr/>
        </p:nvSpPr>
        <p:spPr>
          <a:xfrm>
            <a:off x="5157360" y="4896720"/>
            <a:ext cx="63720" cy="63720"/>
          </a:xfrm>
          <a:prstGeom prst="ellipse">
            <a:avLst/>
          </a:prstGeom>
          <a:solidFill>
            <a:srgbClr val="a9b6c2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 50"/>
          <p:cNvSpPr/>
          <p:nvPr/>
        </p:nvSpPr>
        <p:spPr>
          <a:xfrm>
            <a:off x="5340240" y="4773240"/>
            <a:ext cx="27061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b6b7b"/>
                </a:solidFill>
                <a:latin typeface="Calibri"/>
                <a:ea typeface="Calibri"/>
              </a:rPr>
              <a:t>Camera-by-camera viewing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Shape 51"/>
          <p:cNvSpPr/>
          <p:nvPr/>
        </p:nvSpPr>
        <p:spPr>
          <a:xfrm>
            <a:off x="5157360" y="5244120"/>
            <a:ext cx="63720" cy="63720"/>
          </a:xfrm>
          <a:prstGeom prst="ellipse">
            <a:avLst/>
          </a:prstGeom>
          <a:solidFill>
            <a:srgbClr val="a9b6c2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 52"/>
          <p:cNvSpPr/>
          <p:nvPr/>
        </p:nvSpPr>
        <p:spPr>
          <a:xfrm>
            <a:off x="5340240" y="5120640"/>
            <a:ext cx="27061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b6b7b"/>
                </a:solidFill>
                <a:latin typeface="Calibri"/>
                <a:ea typeface="Calibri"/>
              </a:rPr>
              <a:t>Manual footage searching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Shape 53"/>
          <p:cNvSpPr/>
          <p:nvPr/>
        </p:nvSpPr>
        <p:spPr>
          <a:xfrm>
            <a:off x="5157360" y="5591520"/>
            <a:ext cx="63720" cy="63720"/>
          </a:xfrm>
          <a:prstGeom prst="ellipse">
            <a:avLst/>
          </a:prstGeom>
          <a:solidFill>
            <a:srgbClr val="a9b6c2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 54"/>
          <p:cNvSpPr/>
          <p:nvPr/>
        </p:nvSpPr>
        <p:spPr>
          <a:xfrm>
            <a:off x="5340240" y="5468040"/>
            <a:ext cx="27061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b6b7b"/>
                </a:solidFill>
                <a:latin typeface="Calibri"/>
                <a:ea typeface="Calibri"/>
              </a:rPr>
              <a:t>Isolated, unlinked alerts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Shape 55"/>
          <p:cNvSpPr/>
          <p:nvPr/>
        </p:nvSpPr>
        <p:spPr>
          <a:xfrm>
            <a:off x="5157360" y="5938920"/>
            <a:ext cx="63720" cy="63720"/>
          </a:xfrm>
          <a:prstGeom prst="ellipse">
            <a:avLst/>
          </a:prstGeom>
          <a:solidFill>
            <a:srgbClr val="a9b6c2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Text 56"/>
          <p:cNvSpPr/>
          <p:nvPr/>
        </p:nvSpPr>
        <p:spPr>
          <a:xfrm>
            <a:off x="5340240" y="5815440"/>
            <a:ext cx="27061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b6b7b"/>
                </a:solidFill>
                <a:latin typeface="Calibri"/>
                <a:ea typeface="Calibri"/>
              </a:rPr>
              <a:t>Fragmented evidence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Shape 57"/>
          <p:cNvSpPr/>
          <p:nvPr/>
        </p:nvSpPr>
        <p:spPr>
          <a:xfrm>
            <a:off x="8449200" y="4316040"/>
            <a:ext cx="3273120" cy="1919880"/>
          </a:xfrm>
          <a:prstGeom prst="roundRect">
            <a:avLst>
              <a:gd name="adj" fmla="val 3810"/>
            </a:avLst>
          </a:prstGeom>
          <a:solidFill>
            <a:srgbClr val="0b2545"/>
          </a:solidFill>
          <a:ln w="12700">
            <a:solidFill>
              <a:srgbClr val="0b2545"/>
            </a:solidFill>
            <a:round/>
          </a:ln>
          <a:effectLst>
            <a:outerShdw algn="bl" blurRad="101520" dir="5400000" dist="12600" kx="0" ky="0" rotWithShape="0" sx="100000" sy="100000">
              <a:srgbClr val="9fb0c2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Text 58"/>
          <p:cNvSpPr/>
          <p:nvPr/>
        </p:nvSpPr>
        <p:spPr>
          <a:xfrm>
            <a:off x="8632080" y="4462200"/>
            <a:ext cx="29073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97" strike="noStrike">
                <a:solidFill>
                  <a:srgbClr val="ffffff"/>
                </a:solidFill>
                <a:latin typeface="Arial"/>
                <a:ea typeface="Arial"/>
              </a:rPr>
              <a:t>WITH SENTINEL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Shape 59"/>
          <p:cNvSpPr/>
          <p:nvPr/>
        </p:nvSpPr>
        <p:spPr>
          <a:xfrm>
            <a:off x="8650080" y="4896720"/>
            <a:ext cx="63720" cy="63720"/>
          </a:xfrm>
          <a:prstGeom prst="ellipse">
            <a:avLst/>
          </a:prstGeom>
          <a:solidFill>
            <a:srgbClr val="c2600b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Text 60"/>
          <p:cNvSpPr/>
          <p:nvPr/>
        </p:nvSpPr>
        <p:spPr>
          <a:xfrm>
            <a:off x="8832960" y="4773240"/>
            <a:ext cx="27061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dce7f3"/>
                </a:solidFill>
                <a:latin typeface="Calibri"/>
                <a:ea typeface="Calibri"/>
              </a:rPr>
              <a:t>Unified statewide search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Shape 61"/>
          <p:cNvSpPr/>
          <p:nvPr/>
        </p:nvSpPr>
        <p:spPr>
          <a:xfrm>
            <a:off x="8650080" y="5244120"/>
            <a:ext cx="63720" cy="63720"/>
          </a:xfrm>
          <a:prstGeom prst="ellipse">
            <a:avLst/>
          </a:prstGeom>
          <a:solidFill>
            <a:srgbClr val="c2600b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Text 62"/>
          <p:cNvSpPr/>
          <p:nvPr/>
        </p:nvSpPr>
        <p:spPr>
          <a:xfrm>
            <a:off x="8832960" y="5120640"/>
            <a:ext cx="27061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dce7f3"/>
                </a:solidFill>
                <a:latin typeface="Calibri"/>
                <a:ea typeface="Calibri"/>
              </a:rPr>
              <a:t>AI-assisted investigation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Shape 63"/>
          <p:cNvSpPr/>
          <p:nvPr/>
        </p:nvSpPr>
        <p:spPr>
          <a:xfrm>
            <a:off x="8650080" y="5591520"/>
            <a:ext cx="63720" cy="63720"/>
          </a:xfrm>
          <a:prstGeom prst="ellipse">
            <a:avLst/>
          </a:prstGeom>
          <a:solidFill>
            <a:srgbClr val="c2600b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Text 64"/>
          <p:cNvSpPr/>
          <p:nvPr/>
        </p:nvSpPr>
        <p:spPr>
          <a:xfrm>
            <a:off x="8832960" y="5468040"/>
            <a:ext cx="27061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dce7f3"/>
                </a:solidFill>
                <a:latin typeface="Calibri"/>
                <a:ea typeface="Calibri"/>
              </a:rPr>
              <a:t>Correlated cross-camera events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Shape 65"/>
          <p:cNvSpPr/>
          <p:nvPr/>
        </p:nvSpPr>
        <p:spPr>
          <a:xfrm>
            <a:off x="8650080" y="5938920"/>
            <a:ext cx="63720" cy="63720"/>
          </a:xfrm>
          <a:prstGeom prst="ellipse">
            <a:avLst/>
          </a:prstGeom>
          <a:solidFill>
            <a:srgbClr val="c2600b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Text 66"/>
          <p:cNvSpPr/>
          <p:nvPr/>
        </p:nvSpPr>
        <p:spPr>
          <a:xfrm>
            <a:off x="8832960" y="5815440"/>
            <a:ext cx="27061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dce7f3"/>
                </a:solidFill>
                <a:latin typeface="Calibri"/>
                <a:ea typeface="Calibri"/>
              </a:rPr>
              <a:t>Case-ready evidence chain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Text 0"/>
          <p:cNvSpPr/>
          <p:nvPr/>
        </p:nvSpPr>
        <p:spPr>
          <a:xfrm>
            <a:off x="457200" y="292680"/>
            <a:ext cx="112467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38" strike="noStrike">
                <a:solidFill>
                  <a:srgbClr val="0b2545"/>
                </a:solidFill>
                <a:latin typeface="Arial"/>
                <a:ea typeface="Arial"/>
              </a:rPr>
              <a:t>TECHNICAL APPROACH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Text 1"/>
          <p:cNvSpPr/>
          <p:nvPr/>
        </p:nvSpPr>
        <p:spPr>
          <a:xfrm>
            <a:off x="457200" y="768240"/>
            <a:ext cx="11246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b6b7b"/>
                </a:solidFill>
                <a:latin typeface="Calibri"/>
                <a:ea typeface="Calibri"/>
              </a:rPr>
              <a:t>End-to-end pipeline · technology stack · security by design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Shape 2"/>
          <p:cNvSpPr/>
          <p:nvPr/>
        </p:nvSpPr>
        <p:spPr>
          <a:xfrm>
            <a:off x="457200" y="1188720"/>
            <a:ext cx="1416960" cy="182844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dfe9"/>
            </a:solidFill>
            <a:round/>
          </a:ln>
          <a:effectLst>
            <a:outerShdw algn="bl" blurRad="101520" dir="5400000" dist="12600" kx="0" ky="0" rotWithShape="0" sx="100000" sy="100000">
              <a:srgbClr val="9fb0c2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Shape 3"/>
          <p:cNvSpPr/>
          <p:nvPr/>
        </p:nvSpPr>
        <p:spPr>
          <a:xfrm>
            <a:off x="973800" y="1353240"/>
            <a:ext cx="383760" cy="383760"/>
          </a:xfrm>
          <a:prstGeom prst="ellipse">
            <a:avLst/>
          </a:prstGeom>
          <a:solidFill>
            <a:srgbClr val="eaf0f7"/>
          </a:solidFill>
          <a:ln w="12700">
            <a:solidFill>
              <a:srgbClr val="eaf0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4" name="Image 0" descr="preencoded.png"/>
          <p:cNvPicPr/>
          <p:nvPr/>
        </p:nvPicPr>
        <p:blipFill>
          <a:blip r:embed="rId1"/>
          <a:stretch/>
        </p:blipFill>
        <p:spPr>
          <a:xfrm>
            <a:off x="1031400" y="1410840"/>
            <a:ext cx="268560" cy="268560"/>
          </a:xfrm>
          <a:prstGeom prst="rect">
            <a:avLst/>
          </a:prstGeom>
          <a:ln w="0">
            <a:noFill/>
          </a:ln>
        </p:spPr>
      </p:pic>
      <p:sp>
        <p:nvSpPr>
          <p:cNvPr id="155" name="Text 4"/>
          <p:cNvSpPr/>
          <p:nvPr/>
        </p:nvSpPr>
        <p:spPr>
          <a:xfrm>
            <a:off x="511920" y="1810440"/>
            <a:ext cx="13071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95000"/>
              </a:lnSpc>
              <a:tabLst>
                <a:tab algn="l" pos="0"/>
              </a:tabLst>
            </a:pPr>
            <a:r>
              <a:rPr b="1" lang="en-US" sz="920" spc="-1" strike="noStrike">
                <a:solidFill>
                  <a:srgbClr val="0b2545"/>
                </a:solidFill>
                <a:latin typeface="Arial"/>
                <a:ea typeface="Arial"/>
              </a:rPr>
              <a:t>CAMERA SOURCES</a:t>
            </a:r>
            <a:endParaRPr b="0" lang="en-US" sz="9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Text 5"/>
          <p:cNvSpPr/>
          <p:nvPr/>
        </p:nvSpPr>
        <p:spPr>
          <a:xfrm>
            <a:off x="511920" y="2322720"/>
            <a:ext cx="13071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20" spc="-1" strike="noStrike">
                <a:solidFill>
                  <a:srgbClr val="5b6b7b"/>
                </a:solidFill>
                <a:latin typeface="Calibri"/>
                <a:ea typeface="Calibri"/>
              </a:rPr>
              <a:t>RTSP / HLS /</a:t>
            </a:r>
            <a:endParaRPr b="0" lang="en-US" sz="82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20" spc="-1" strike="noStrike">
                <a:solidFill>
                  <a:srgbClr val="5b6b7b"/>
                </a:solidFill>
                <a:latin typeface="Calibri"/>
                <a:ea typeface="Calibri"/>
              </a:rPr>
              <a:t>ONVIF / VMS</a:t>
            </a:r>
            <a:endParaRPr b="0" lang="en-US" sz="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Shape 6"/>
          <p:cNvSpPr/>
          <p:nvPr/>
        </p:nvSpPr>
        <p:spPr>
          <a:xfrm>
            <a:off x="1915560" y="2103120"/>
            <a:ext cx="137160" cy="360"/>
          </a:xfrm>
          <a:prstGeom prst="line">
            <a:avLst/>
          </a:prstGeom>
          <a:ln w="22225">
            <a:solidFill>
              <a:srgbClr val="c2600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Shape 7"/>
          <p:cNvSpPr/>
          <p:nvPr/>
        </p:nvSpPr>
        <p:spPr>
          <a:xfrm>
            <a:off x="2094120" y="1188720"/>
            <a:ext cx="1416960" cy="182844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dfe9"/>
            </a:solidFill>
            <a:round/>
          </a:ln>
          <a:effectLst>
            <a:outerShdw algn="bl" blurRad="101520" dir="5400000" dist="12600" kx="0" ky="0" rotWithShape="0" sx="100000" sy="100000">
              <a:srgbClr val="9fb0c2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Shape 8"/>
          <p:cNvSpPr/>
          <p:nvPr/>
        </p:nvSpPr>
        <p:spPr>
          <a:xfrm>
            <a:off x="2610720" y="1353240"/>
            <a:ext cx="383760" cy="383760"/>
          </a:xfrm>
          <a:prstGeom prst="ellipse">
            <a:avLst/>
          </a:prstGeom>
          <a:solidFill>
            <a:srgbClr val="eaf0f7"/>
          </a:solidFill>
          <a:ln w="12700">
            <a:solidFill>
              <a:srgbClr val="eaf0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0" name="Image 1" descr="preencoded.png"/>
          <p:cNvPicPr/>
          <p:nvPr/>
        </p:nvPicPr>
        <p:blipFill>
          <a:blip r:embed="rId2"/>
          <a:stretch/>
        </p:blipFill>
        <p:spPr>
          <a:xfrm>
            <a:off x="2668320" y="1410840"/>
            <a:ext cx="268560" cy="268560"/>
          </a:xfrm>
          <a:prstGeom prst="rect">
            <a:avLst/>
          </a:prstGeom>
          <a:ln w="0">
            <a:noFill/>
          </a:ln>
        </p:spPr>
      </p:pic>
      <p:sp>
        <p:nvSpPr>
          <p:cNvPr id="161" name="Text 9"/>
          <p:cNvSpPr/>
          <p:nvPr/>
        </p:nvSpPr>
        <p:spPr>
          <a:xfrm>
            <a:off x="2148840" y="1810440"/>
            <a:ext cx="13071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95000"/>
              </a:lnSpc>
              <a:tabLst>
                <a:tab algn="l" pos="0"/>
              </a:tabLst>
            </a:pPr>
            <a:r>
              <a:rPr b="1" lang="en-US" sz="920" spc="-1" strike="noStrike">
                <a:solidFill>
                  <a:srgbClr val="0b2545"/>
                </a:solidFill>
                <a:latin typeface="Arial"/>
                <a:ea typeface="Arial"/>
              </a:rPr>
              <a:t>INGESTION &amp;</a:t>
            </a:r>
            <a:endParaRPr b="0" lang="en-US" sz="92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95000"/>
              </a:lnSpc>
              <a:tabLst>
                <a:tab algn="l" pos="0"/>
              </a:tabLst>
            </a:pPr>
            <a:r>
              <a:rPr b="1" lang="en-US" sz="920" spc="-1" strike="noStrike">
                <a:solidFill>
                  <a:srgbClr val="0b2545"/>
                </a:solidFill>
                <a:latin typeface="Arial"/>
                <a:ea typeface="Arial"/>
              </a:rPr>
              <a:t>FEDERATION</a:t>
            </a:r>
            <a:endParaRPr b="0" lang="en-US" sz="9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 10"/>
          <p:cNvSpPr/>
          <p:nvPr/>
        </p:nvSpPr>
        <p:spPr>
          <a:xfrm>
            <a:off x="2148840" y="2322720"/>
            <a:ext cx="13071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20" spc="-1" strike="noStrike">
                <a:solidFill>
                  <a:srgbClr val="5b6b7b"/>
                </a:solidFill>
                <a:latin typeface="Calibri"/>
                <a:ea typeface="Calibri"/>
              </a:rPr>
              <a:t>Vendor-neutral</a:t>
            </a:r>
            <a:endParaRPr b="0" lang="en-US" sz="82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20" spc="-1" strike="noStrike">
                <a:solidFill>
                  <a:srgbClr val="5b6b7b"/>
                </a:solidFill>
                <a:latin typeface="Calibri"/>
                <a:ea typeface="Calibri"/>
              </a:rPr>
              <a:t>adapters</a:t>
            </a:r>
            <a:endParaRPr b="0" lang="en-US" sz="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Shape 11"/>
          <p:cNvSpPr/>
          <p:nvPr/>
        </p:nvSpPr>
        <p:spPr>
          <a:xfrm>
            <a:off x="3552120" y="2103120"/>
            <a:ext cx="137160" cy="360"/>
          </a:xfrm>
          <a:prstGeom prst="line">
            <a:avLst/>
          </a:prstGeom>
          <a:ln w="22225">
            <a:solidFill>
              <a:srgbClr val="c2600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Shape 12"/>
          <p:cNvSpPr/>
          <p:nvPr/>
        </p:nvSpPr>
        <p:spPr>
          <a:xfrm>
            <a:off x="3730680" y="1188720"/>
            <a:ext cx="1416960" cy="1828440"/>
          </a:xfrm>
          <a:prstGeom prst="roundRect">
            <a:avLst>
              <a:gd name="adj" fmla="val 5161"/>
            </a:avLst>
          </a:prstGeom>
          <a:solidFill>
            <a:srgbClr val="0b2545"/>
          </a:solidFill>
          <a:ln w="12700">
            <a:solidFill>
              <a:srgbClr val="0b2545"/>
            </a:solidFill>
            <a:round/>
          </a:ln>
          <a:effectLst>
            <a:outerShdw algn="bl" blurRad="101520" dir="5400000" dist="12600" kx="0" ky="0" rotWithShape="0" sx="100000" sy="100000">
              <a:srgbClr val="9fb0c2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Shape 13"/>
          <p:cNvSpPr/>
          <p:nvPr/>
        </p:nvSpPr>
        <p:spPr>
          <a:xfrm>
            <a:off x="4247280" y="1353240"/>
            <a:ext cx="383760" cy="383760"/>
          </a:xfrm>
          <a:prstGeom prst="ellipse">
            <a:avLst/>
          </a:prstGeom>
          <a:solidFill>
            <a:srgbClr val="1d4e89"/>
          </a:solidFill>
          <a:ln w="12700">
            <a:solidFill>
              <a:srgbClr val="1d4e8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66" name="Image 2" descr="preencoded.png"/>
          <p:cNvPicPr/>
          <p:nvPr/>
        </p:nvPicPr>
        <p:blipFill>
          <a:blip r:embed="rId3"/>
          <a:stretch/>
        </p:blipFill>
        <p:spPr>
          <a:xfrm>
            <a:off x="4304880" y="1410840"/>
            <a:ext cx="268560" cy="268560"/>
          </a:xfrm>
          <a:prstGeom prst="rect">
            <a:avLst/>
          </a:prstGeom>
          <a:ln w="0">
            <a:noFill/>
          </a:ln>
        </p:spPr>
      </p:pic>
      <p:sp>
        <p:nvSpPr>
          <p:cNvPr id="167" name="Text 14"/>
          <p:cNvSpPr/>
          <p:nvPr/>
        </p:nvSpPr>
        <p:spPr>
          <a:xfrm>
            <a:off x="3785760" y="1810440"/>
            <a:ext cx="13071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95000"/>
              </a:lnSpc>
              <a:tabLst>
                <a:tab algn="l" pos="0"/>
              </a:tabLst>
            </a:pPr>
            <a:r>
              <a:rPr b="1" lang="en-US" sz="920" spc="-1" strike="noStrike">
                <a:solidFill>
                  <a:srgbClr val="ffffff"/>
                </a:solidFill>
                <a:latin typeface="Arial"/>
                <a:ea typeface="Arial"/>
              </a:rPr>
              <a:t>AI VIDEO</a:t>
            </a:r>
            <a:endParaRPr b="0" lang="en-US" sz="92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95000"/>
              </a:lnSpc>
              <a:tabLst>
                <a:tab algn="l" pos="0"/>
              </a:tabLst>
            </a:pPr>
            <a:r>
              <a:rPr b="1" lang="en-US" sz="920" spc="-1" strike="noStrike">
                <a:solidFill>
                  <a:srgbClr val="ffffff"/>
                </a:solidFill>
                <a:latin typeface="Arial"/>
                <a:ea typeface="Arial"/>
              </a:rPr>
              <a:t>ANALYTICS</a:t>
            </a:r>
            <a:endParaRPr b="0" lang="en-US" sz="9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 15"/>
          <p:cNvSpPr/>
          <p:nvPr/>
        </p:nvSpPr>
        <p:spPr>
          <a:xfrm>
            <a:off x="3785760" y="2322720"/>
            <a:ext cx="13071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20" spc="-1" strike="noStrike">
                <a:solidFill>
                  <a:srgbClr val="bfd2e8"/>
                </a:solidFill>
                <a:latin typeface="Calibri"/>
                <a:ea typeface="Calibri"/>
              </a:rPr>
              <a:t>YOLO + ANPR</a:t>
            </a:r>
            <a:endParaRPr b="0" lang="en-US" sz="82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20" spc="-1" strike="noStrike">
                <a:solidFill>
                  <a:srgbClr val="bfd2e8"/>
                </a:solidFill>
                <a:latin typeface="Calibri"/>
                <a:ea typeface="Calibri"/>
              </a:rPr>
              <a:t>+ Tracking</a:t>
            </a:r>
            <a:endParaRPr b="0" lang="en-US" sz="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Shape 16"/>
          <p:cNvSpPr/>
          <p:nvPr/>
        </p:nvSpPr>
        <p:spPr>
          <a:xfrm>
            <a:off x="5189040" y="2103120"/>
            <a:ext cx="137160" cy="360"/>
          </a:xfrm>
          <a:prstGeom prst="line">
            <a:avLst/>
          </a:prstGeom>
          <a:ln w="22225">
            <a:solidFill>
              <a:srgbClr val="c2600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Shape 17"/>
          <p:cNvSpPr/>
          <p:nvPr/>
        </p:nvSpPr>
        <p:spPr>
          <a:xfrm>
            <a:off x="5367600" y="1188720"/>
            <a:ext cx="1416960" cy="182844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dfe9"/>
            </a:solidFill>
            <a:round/>
          </a:ln>
          <a:effectLst>
            <a:outerShdw algn="bl" blurRad="101520" dir="5400000" dist="12600" kx="0" ky="0" rotWithShape="0" sx="100000" sy="100000">
              <a:srgbClr val="9fb0c2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Shape 18"/>
          <p:cNvSpPr/>
          <p:nvPr/>
        </p:nvSpPr>
        <p:spPr>
          <a:xfrm>
            <a:off x="5884200" y="1353240"/>
            <a:ext cx="383760" cy="383760"/>
          </a:xfrm>
          <a:prstGeom prst="ellipse">
            <a:avLst/>
          </a:prstGeom>
          <a:solidFill>
            <a:srgbClr val="eaf0f7"/>
          </a:solidFill>
          <a:ln w="12700">
            <a:solidFill>
              <a:srgbClr val="eaf0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2" name="Image 3" descr="preencoded.png"/>
          <p:cNvPicPr/>
          <p:nvPr/>
        </p:nvPicPr>
        <p:blipFill>
          <a:blip r:embed="rId4"/>
          <a:stretch/>
        </p:blipFill>
        <p:spPr>
          <a:xfrm>
            <a:off x="5941800" y="1410840"/>
            <a:ext cx="268560" cy="268560"/>
          </a:xfrm>
          <a:prstGeom prst="rect">
            <a:avLst/>
          </a:prstGeom>
          <a:ln w="0">
            <a:noFill/>
          </a:ln>
        </p:spPr>
      </p:pic>
      <p:sp>
        <p:nvSpPr>
          <p:cNvPr id="173" name="Text 19"/>
          <p:cNvSpPr/>
          <p:nvPr/>
        </p:nvSpPr>
        <p:spPr>
          <a:xfrm>
            <a:off x="5422320" y="1810440"/>
            <a:ext cx="13071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95000"/>
              </a:lnSpc>
              <a:tabLst>
                <a:tab algn="l" pos="0"/>
              </a:tabLst>
            </a:pPr>
            <a:r>
              <a:rPr b="1" lang="en-US" sz="920" spc="-1" strike="noStrike">
                <a:solidFill>
                  <a:srgbClr val="0b2545"/>
                </a:solidFill>
                <a:latin typeface="Arial"/>
                <a:ea typeface="Arial"/>
              </a:rPr>
              <a:t>EVENT</a:t>
            </a:r>
            <a:endParaRPr b="0" lang="en-US" sz="92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95000"/>
              </a:lnSpc>
              <a:tabLst>
                <a:tab algn="l" pos="0"/>
              </a:tabLst>
            </a:pPr>
            <a:r>
              <a:rPr b="1" lang="en-US" sz="920" spc="-1" strike="noStrike">
                <a:solidFill>
                  <a:srgbClr val="0b2545"/>
                </a:solidFill>
                <a:latin typeface="Arial"/>
                <a:ea typeface="Arial"/>
              </a:rPr>
              <a:t>INTELLIGENCE</a:t>
            </a:r>
            <a:endParaRPr b="0" lang="en-US" sz="9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Text 20"/>
          <p:cNvSpPr/>
          <p:nvPr/>
        </p:nvSpPr>
        <p:spPr>
          <a:xfrm>
            <a:off x="5422320" y="2322720"/>
            <a:ext cx="13071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20" spc="-1" strike="noStrike">
                <a:solidFill>
                  <a:srgbClr val="5b6b7b"/>
                </a:solidFill>
                <a:latin typeface="Calibri"/>
                <a:ea typeface="Calibri"/>
              </a:rPr>
              <a:t>Plate · Time ·</a:t>
            </a:r>
            <a:endParaRPr b="0" lang="en-US" sz="82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20" spc="-1" strike="noStrike">
                <a:solidFill>
                  <a:srgbClr val="5b6b7b"/>
                </a:solidFill>
                <a:latin typeface="Calibri"/>
                <a:ea typeface="Calibri"/>
              </a:rPr>
              <a:t>Camera · Location</a:t>
            </a:r>
            <a:endParaRPr b="0" lang="en-US" sz="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Shape 21"/>
          <p:cNvSpPr/>
          <p:nvPr/>
        </p:nvSpPr>
        <p:spPr>
          <a:xfrm>
            <a:off x="6825960" y="2103120"/>
            <a:ext cx="137160" cy="360"/>
          </a:xfrm>
          <a:prstGeom prst="line">
            <a:avLst/>
          </a:prstGeom>
          <a:ln w="22225">
            <a:solidFill>
              <a:srgbClr val="c2600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Shape 22"/>
          <p:cNvSpPr/>
          <p:nvPr/>
        </p:nvSpPr>
        <p:spPr>
          <a:xfrm>
            <a:off x="7004160" y="1188720"/>
            <a:ext cx="1416960" cy="182844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dfe9"/>
            </a:solidFill>
            <a:round/>
          </a:ln>
          <a:effectLst>
            <a:outerShdw algn="bl" blurRad="101520" dir="5400000" dist="12600" kx="0" ky="0" rotWithShape="0" sx="100000" sy="100000">
              <a:srgbClr val="9fb0c2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Shape 23"/>
          <p:cNvSpPr/>
          <p:nvPr/>
        </p:nvSpPr>
        <p:spPr>
          <a:xfrm>
            <a:off x="7521120" y="1353240"/>
            <a:ext cx="383760" cy="383760"/>
          </a:xfrm>
          <a:prstGeom prst="ellipse">
            <a:avLst/>
          </a:prstGeom>
          <a:solidFill>
            <a:srgbClr val="eaf0f7"/>
          </a:solidFill>
          <a:ln w="12700">
            <a:solidFill>
              <a:srgbClr val="eaf0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8" name="Image 4" descr="preencoded.png"/>
          <p:cNvPicPr/>
          <p:nvPr/>
        </p:nvPicPr>
        <p:blipFill>
          <a:blip r:embed="rId5"/>
          <a:stretch/>
        </p:blipFill>
        <p:spPr>
          <a:xfrm>
            <a:off x="7578720" y="1410840"/>
            <a:ext cx="268560" cy="268560"/>
          </a:xfrm>
          <a:prstGeom prst="rect">
            <a:avLst/>
          </a:prstGeom>
          <a:ln w="0">
            <a:noFill/>
          </a:ln>
        </p:spPr>
      </p:pic>
      <p:sp>
        <p:nvSpPr>
          <p:cNvPr id="179" name="Text 24"/>
          <p:cNvSpPr/>
          <p:nvPr/>
        </p:nvSpPr>
        <p:spPr>
          <a:xfrm>
            <a:off x="7059240" y="1810440"/>
            <a:ext cx="13071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95000"/>
              </a:lnSpc>
              <a:tabLst>
                <a:tab algn="l" pos="0"/>
              </a:tabLst>
            </a:pPr>
            <a:r>
              <a:rPr b="1" lang="en-US" sz="920" spc="-1" strike="noStrike">
                <a:solidFill>
                  <a:srgbClr val="0b2545"/>
                </a:solidFill>
                <a:latin typeface="Arial"/>
                <a:ea typeface="Arial"/>
              </a:rPr>
              <a:t>CORRELATION</a:t>
            </a:r>
            <a:endParaRPr b="0" lang="en-US" sz="92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95000"/>
              </a:lnSpc>
              <a:tabLst>
                <a:tab algn="l" pos="0"/>
              </a:tabLst>
            </a:pPr>
            <a:r>
              <a:rPr b="1" lang="en-US" sz="920" spc="-1" strike="noStrike">
                <a:solidFill>
                  <a:srgbClr val="0b2545"/>
                </a:solidFill>
                <a:latin typeface="Arial"/>
                <a:ea typeface="Arial"/>
              </a:rPr>
              <a:t>ENGINE</a:t>
            </a:r>
            <a:endParaRPr b="0" lang="en-US" sz="9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Text 25"/>
          <p:cNvSpPr/>
          <p:nvPr/>
        </p:nvSpPr>
        <p:spPr>
          <a:xfrm>
            <a:off x="7059240" y="2322720"/>
            <a:ext cx="13071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20" spc="-1" strike="noStrike">
                <a:solidFill>
                  <a:srgbClr val="5b6b7b"/>
                </a:solidFill>
                <a:latin typeface="Calibri"/>
                <a:ea typeface="Calibri"/>
              </a:rPr>
              <a:t>Journey · behaviour</a:t>
            </a:r>
            <a:endParaRPr b="0" lang="en-US" sz="82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20" spc="-1" strike="noStrike">
                <a:solidFill>
                  <a:srgbClr val="5b6b7b"/>
                </a:solidFill>
                <a:latin typeface="Calibri"/>
                <a:ea typeface="Calibri"/>
              </a:rPr>
              <a:t>· alerts</a:t>
            </a:r>
            <a:endParaRPr b="0" lang="en-US" sz="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Shape 26"/>
          <p:cNvSpPr/>
          <p:nvPr/>
        </p:nvSpPr>
        <p:spPr>
          <a:xfrm>
            <a:off x="8462520" y="2103120"/>
            <a:ext cx="137160" cy="360"/>
          </a:xfrm>
          <a:prstGeom prst="line">
            <a:avLst/>
          </a:prstGeom>
          <a:ln w="22225">
            <a:solidFill>
              <a:srgbClr val="c2600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Shape 27"/>
          <p:cNvSpPr/>
          <p:nvPr/>
        </p:nvSpPr>
        <p:spPr>
          <a:xfrm>
            <a:off x="8641080" y="1188720"/>
            <a:ext cx="1416960" cy="182844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dfe9"/>
            </a:solidFill>
            <a:round/>
          </a:ln>
          <a:effectLst>
            <a:outerShdw algn="bl" blurRad="101520" dir="5400000" dist="12600" kx="0" ky="0" rotWithShape="0" sx="100000" sy="100000">
              <a:srgbClr val="9fb0c2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Shape 28"/>
          <p:cNvSpPr/>
          <p:nvPr/>
        </p:nvSpPr>
        <p:spPr>
          <a:xfrm>
            <a:off x="9157680" y="1353240"/>
            <a:ext cx="383760" cy="383760"/>
          </a:xfrm>
          <a:prstGeom prst="ellipse">
            <a:avLst/>
          </a:prstGeom>
          <a:solidFill>
            <a:srgbClr val="eaf0f7"/>
          </a:solidFill>
          <a:ln w="12700">
            <a:solidFill>
              <a:srgbClr val="eaf0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4" name="Image 5" descr="preencoded.png"/>
          <p:cNvPicPr/>
          <p:nvPr/>
        </p:nvPicPr>
        <p:blipFill>
          <a:blip r:embed="rId6"/>
          <a:stretch/>
        </p:blipFill>
        <p:spPr>
          <a:xfrm>
            <a:off x="9215280" y="1410840"/>
            <a:ext cx="268560" cy="268560"/>
          </a:xfrm>
          <a:prstGeom prst="rect">
            <a:avLst/>
          </a:prstGeom>
          <a:ln w="0">
            <a:noFill/>
          </a:ln>
        </p:spPr>
      </p:pic>
      <p:sp>
        <p:nvSpPr>
          <p:cNvPr id="185" name="Text 29"/>
          <p:cNvSpPr/>
          <p:nvPr/>
        </p:nvSpPr>
        <p:spPr>
          <a:xfrm>
            <a:off x="8695800" y="1810440"/>
            <a:ext cx="13071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95000"/>
              </a:lnSpc>
              <a:tabLst>
                <a:tab algn="l" pos="0"/>
              </a:tabLst>
            </a:pPr>
            <a:r>
              <a:rPr b="1" lang="en-US" sz="920" spc="-1" strike="noStrike">
                <a:solidFill>
                  <a:srgbClr val="0b2545"/>
                </a:solidFill>
                <a:latin typeface="Arial"/>
                <a:ea typeface="Arial"/>
              </a:rPr>
              <a:t>INVESTIGATION</a:t>
            </a:r>
            <a:endParaRPr b="0" lang="en-US" sz="92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95000"/>
              </a:lnSpc>
              <a:tabLst>
                <a:tab algn="l" pos="0"/>
              </a:tabLst>
            </a:pPr>
            <a:r>
              <a:rPr b="1" lang="en-US" sz="920" spc="-1" strike="noStrike">
                <a:solidFill>
                  <a:srgbClr val="0b2545"/>
                </a:solidFill>
                <a:latin typeface="Arial"/>
                <a:ea typeface="Arial"/>
              </a:rPr>
              <a:t>LAYER</a:t>
            </a:r>
            <a:endParaRPr b="0" lang="en-US" sz="9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Text 30"/>
          <p:cNvSpPr/>
          <p:nvPr/>
        </p:nvSpPr>
        <p:spPr>
          <a:xfrm>
            <a:off x="8695800" y="2322720"/>
            <a:ext cx="13071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20" spc="-1" strike="noStrike">
                <a:solidFill>
                  <a:srgbClr val="5b6b7b"/>
                </a:solidFill>
                <a:latin typeface="Calibri"/>
                <a:ea typeface="Calibri"/>
              </a:rPr>
              <a:t>Search · Copilot ·</a:t>
            </a:r>
            <a:endParaRPr b="0" lang="en-US" sz="82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20" spc="-1" strike="noStrike">
                <a:solidFill>
                  <a:srgbClr val="5b6b7b"/>
                </a:solidFill>
                <a:latin typeface="Calibri"/>
                <a:ea typeface="Calibri"/>
              </a:rPr>
              <a:t>Timeline · GIS</a:t>
            </a:r>
            <a:endParaRPr b="0" lang="en-US" sz="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Shape 31"/>
          <p:cNvSpPr/>
          <p:nvPr/>
        </p:nvSpPr>
        <p:spPr>
          <a:xfrm>
            <a:off x="10099440" y="2103120"/>
            <a:ext cx="137160" cy="360"/>
          </a:xfrm>
          <a:prstGeom prst="line">
            <a:avLst/>
          </a:prstGeom>
          <a:ln w="22225">
            <a:solidFill>
              <a:srgbClr val="c2600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Shape 32"/>
          <p:cNvSpPr/>
          <p:nvPr/>
        </p:nvSpPr>
        <p:spPr>
          <a:xfrm>
            <a:off x="10278000" y="1188720"/>
            <a:ext cx="1416960" cy="182844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dfe9"/>
            </a:solidFill>
            <a:round/>
          </a:ln>
          <a:effectLst>
            <a:outerShdw algn="bl" blurRad="101520" dir="5400000" dist="12600" kx="0" ky="0" rotWithShape="0" sx="100000" sy="100000">
              <a:srgbClr val="9fb0c2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Shape 33"/>
          <p:cNvSpPr/>
          <p:nvPr/>
        </p:nvSpPr>
        <p:spPr>
          <a:xfrm>
            <a:off x="10794600" y="1353240"/>
            <a:ext cx="383760" cy="383760"/>
          </a:xfrm>
          <a:prstGeom prst="ellipse">
            <a:avLst/>
          </a:prstGeom>
          <a:solidFill>
            <a:srgbClr val="eaf0f7"/>
          </a:solidFill>
          <a:ln w="12700">
            <a:solidFill>
              <a:srgbClr val="eaf0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0" name="Image 6" descr="preencoded.png"/>
          <p:cNvPicPr/>
          <p:nvPr/>
        </p:nvPicPr>
        <p:blipFill>
          <a:blip r:embed="rId7"/>
          <a:stretch/>
        </p:blipFill>
        <p:spPr>
          <a:xfrm>
            <a:off x="10852200" y="1410840"/>
            <a:ext cx="268560" cy="268560"/>
          </a:xfrm>
          <a:prstGeom prst="rect">
            <a:avLst/>
          </a:prstGeom>
          <a:ln w="0">
            <a:noFill/>
          </a:ln>
        </p:spPr>
      </p:pic>
      <p:sp>
        <p:nvSpPr>
          <p:cNvPr id="191" name="Text 34"/>
          <p:cNvSpPr/>
          <p:nvPr/>
        </p:nvSpPr>
        <p:spPr>
          <a:xfrm>
            <a:off x="10332720" y="1810440"/>
            <a:ext cx="13071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95000"/>
              </a:lnSpc>
              <a:tabLst>
                <a:tab algn="l" pos="0"/>
              </a:tabLst>
            </a:pPr>
            <a:r>
              <a:rPr b="1" lang="en-US" sz="920" spc="-1" strike="noStrike">
                <a:solidFill>
                  <a:srgbClr val="0b2545"/>
                </a:solidFill>
                <a:latin typeface="Arial"/>
                <a:ea typeface="Arial"/>
              </a:rPr>
              <a:t>COMMAND</a:t>
            </a:r>
            <a:endParaRPr b="0" lang="en-US" sz="92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95000"/>
              </a:lnSpc>
              <a:tabLst>
                <a:tab algn="l" pos="0"/>
              </a:tabLst>
            </a:pPr>
            <a:r>
              <a:rPr b="1" lang="en-US" sz="920" spc="-1" strike="noStrike">
                <a:solidFill>
                  <a:srgbClr val="0b2545"/>
                </a:solidFill>
                <a:latin typeface="Arial"/>
                <a:ea typeface="Arial"/>
              </a:rPr>
              <a:t>CENTER</a:t>
            </a:r>
            <a:endParaRPr b="0" lang="en-US" sz="9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Text 35"/>
          <p:cNvSpPr/>
          <p:nvPr/>
        </p:nvSpPr>
        <p:spPr>
          <a:xfrm>
            <a:off x="10332720" y="2322720"/>
            <a:ext cx="13071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20" spc="-1" strike="noStrike">
                <a:solidFill>
                  <a:srgbClr val="5b6b7b"/>
                </a:solidFill>
                <a:latin typeface="Calibri"/>
                <a:ea typeface="Calibri"/>
              </a:rPr>
              <a:t>Alerts · Cases ·</a:t>
            </a:r>
            <a:endParaRPr b="0" lang="en-US" sz="82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20" spc="-1" strike="noStrike">
                <a:solidFill>
                  <a:srgbClr val="5b6b7b"/>
                </a:solidFill>
                <a:latin typeface="Calibri"/>
                <a:ea typeface="Calibri"/>
              </a:rPr>
              <a:t>Reports</a:t>
            </a:r>
            <a:endParaRPr b="0" lang="en-US" sz="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Text 36"/>
          <p:cNvSpPr/>
          <p:nvPr/>
        </p:nvSpPr>
        <p:spPr>
          <a:xfrm>
            <a:off x="457200" y="3218760"/>
            <a:ext cx="36572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109" strike="noStrike">
                <a:solidFill>
                  <a:srgbClr val="c2600b"/>
                </a:solidFill>
                <a:latin typeface="Calibri"/>
                <a:ea typeface="Calibri"/>
              </a:rPr>
              <a:t>TECHNOLOGY STACK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Shape 37"/>
          <p:cNvSpPr/>
          <p:nvPr/>
        </p:nvSpPr>
        <p:spPr>
          <a:xfrm>
            <a:off x="457200" y="3511440"/>
            <a:ext cx="2102760" cy="365400"/>
          </a:xfrm>
          <a:prstGeom prst="roundRect">
            <a:avLst>
              <a:gd name="adj" fmla="val 15000"/>
            </a:avLst>
          </a:prstGeom>
          <a:solidFill>
            <a:srgbClr val="eaf0f7"/>
          </a:solidFill>
          <a:ln w="12700">
            <a:solidFill>
              <a:srgbClr val="d6dfe9"/>
            </a:solidFill>
            <a:round/>
          </a:ln>
          <a:effectLst>
            <a:outerShdw algn="bl" blurRad="101520" dir="16200000" dist="50760" kx="0" ky="0" rotWithShape="0" sx="100000" sy="100000">
              <a:srgbClr val="000000">
                <a:alpha val="7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Text 38"/>
          <p:cNvSpPr/>
          <p:nvPr/>
        </p:nvSpPr>
        <p:spPr>
          <a:xfrm>
            <a:off x="530280" y="3511440"/>
            <a:ext cx="1956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0b2545"/>
                </a:solidFill>
                <a:latin typeface="Calibri"/>
                <a:ea typeface="Calibri"/>
              </a:rPr>
              <a:t>Python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Shape 39"/>
          <p:cNvSpPr/>
          <p:nvPr/>
        </p:nvSpPr>
        <p:spPr>
          <a:xfrm>
            <a:off x="2743200" y="3511440"/>
            <a:ext cx="2102760" cy="365400"/>
          </a:xfrm>
          <a:prstGeom prst="roundRect">
            <a:avLst>
              <a:gd name="adj" fmla="val 15000"/>
            </a:avLst>
          </a:prstGeom>
          <a:solidFill>
            <a:srgbClr val="eaf0f7"/>
          </a:solidFill>
          <a:ln w="12700">
            <a:solidFill>
              <a:srgbClr val="d6dfe9"/>
            </a:solidFill>
            <a:round/>
          </a:ln>
          <a:effectLst>
            <a:outerShdw algn="bl" blurRad="101520" dir="16200000" dist="50760" kx="0" ky="0" rotWithShape="0" sx="100000" sy="100000">
              <a:srgbClr val="000000">
                <a:alpha val="7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Text 40"/>
          <p:cNvSpPr/>
          <p:nvPr/>
        </p:nvSpPr>
        <p:spPr>
          <a:xfrm>
            <a:off x="2816280" y="3511440"/>
            <a:ext cx="1956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0b2545"/>
                </a:solidFill>
                <a:latin typeface="Calibri"/>
                <a:ea typeface="Calibri"/>
              </a:rPr>
              <a:t>FastAPI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Shape 41"/>
          <p:cNvSpPr/>
          <p:nvPr/>
        </p:nvSpPr>
        <p:spPr>
          <a:xfrm>
            <a:off x="5029200" y="3511440"/>
            <a:ext cx="2102760" cy="365400"/>
          </a:xfrm>
          <a:prstGeom prst="roundRect">
            <a:avLst>
              <a:gd name="adj" fmla="val 15000"/>
            </a:avLst>
          </a:prstGeom>
          <a:solidFill>
            <a:srgbClr val="eaf0f7"/>
          </a:solidFill>
          <a:ln w="12700">
            <a:solidFill>
              <a:srgbClr val="d6dfe9"/>
            </a:solidFill>
            <a:round/>
          </a:ln>
          <a:effectLst>
            <a:outerShdw algn="bl" blurRad="101520" dir="16200000" dist="50760" kx="0" ky="0" rotWithShape="0" sx="100000" sy="100000">
              <a:srgbClr val="000000">
                <a:alpha val="7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Text 42"/>
          <p:cNvSpPr/>
          <p:nvPr/>
        </p:nvSpPr>
        <p:spPr>
          <a:xfrm>
            <a:off x="5102280" y="3511440"/>
            <a:ext cx="1956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0b2545"/>
                </a:solidFill>
                <a:latin typeface="Calibri"/>
                <a:ea typeface="Calibri"/>
              </a:rPr>
              <a:t>React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Shape 43"/>
          <p:cNvSpPr/>
          <p:nvPr/>
        </p:nvSpPr>
        <p:spPr>
          <a:xfrm>
            <a:off x="7315200" y="3511440"/>
            <a:ext cx="2102760" cy="365400"/>
          </a:xfrm>
          <a:prstGeom prst="roundRect">
            <a:avLst>
              <a:gd name="adj" fmla="val 15000"/>
            </a:avLst>
          </a:prstGeom>
          <a:solidFill>
            <a:srgbClr val="eaf0f7"/>
          </a:solidFill>
          <a:ln w="12700">
            <a:solidFill>
              <a:srgbClr val="d6dfe9"/>
            </a:solidFill>
            <a:round/>
          </a:ln>
          <a:effectLst>
            <a:outerShdw algn="bl" blurRad="101520" dir="16200000" dist="50760" kx="0" ky="0" rotWithShape="0" sx="100000" sy="100000">
              <a:srgbClr val="000000">
                <a:alpha val="7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Text 44"/>
          <p:cNvSpPr/>
          <p:nvPr/>
        </p:nvSpPr>
        <p:spPr>
          <a:xfrm>
            <a:off x="7388280" y="3511440"/>
            <a:ext cx="1956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0b2545"/>
                </a:solidFill>
                <a:latin typeface="Calibri"/>
                <a:ea typeface="Calibri"/>
              </a:rPr>
              <a:t>PostgreSQL / PostGIS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Shape 45"/>
          <p:cNvSpPr/>
          <p:nvPr/>
        </p:nvSpPr>
        <p:spPr>
          <a:xfrm>
            <a:off x="9601200" y="3511440"/>
            <a:ext cx="2102760" cy="365400"/>
          </a:xfrm>
          <a:prstGeom prst="roundRect">
            <a:avLst>
              <a:gd name="adj" fmla="val 15000"/>
            </a:avLst>
          </a:prstGeom>
          <a:solidFill>
            <a:srgbClr val="eaf0f7"/>
          </a:solidFill>
          <a:ln w="12700">
            <a:solidFill>
              <a:srgbClr val="d6dfe9"/>
            </a:solidFill>
            <a:round/>
          </a:ln>
          <a:effectLst>
            <a:outerShdw algn="bl" blurRad="101520" dir="16200000" dist="50760" kx="0" ky="0" rotWithShape="0" sx="100000" sy="100000">
              <a:srgbClr val="000000">
                <a:alpha val="7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Text 46"/>
          <p:cNvSpPr/>
          <p:nvPr/>
        </p:nvSpPr>
        <p:spPr>
          <a:xfrm>
            <a:off x="9674280" y="3511440"/>
            <a:ext cx="1956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0b2545"/>
                </a:solidFill>
                <a:latin typeface="Calibri"/>
                <a:ea typeface="Calibri"/>
              </a:rPr>
              <a:t>Docker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Shape 47"/>
          <p:cNvSpPr/>
          <p:nvPr/>
        </p:nvSpPr>
        <p:spPr>
          <a:xfrm>
            <a:off x="457200" y="3968640"/>
            <a:ext cx="2102760" cy="365400"/>
          </a:xfrm>
          <a:prstGeom prst="roundRect">
            <a:avLst>
              <a:gd name="adj" fmla="val 15000"/>
            </a:avLst>
          </a:prstGeom>
          <a:solidFill>
            <a:srgbClr val="f4f7fa"/>
          </a:solidFill>
          <a:ln w="12700">
            <a:solidFill>
              <a:srgbClr val="d6dfe9"/>
            </a:solidFill>
            <a:round/>
          </a:ln>
          <a:effectLst>
            <a:outerShdw algn="bl" blurRad="101520" dir="16200000" dist="50760" kx="0" ky="0" rotWithShape="0" sx="100000" sy="100000">
              <a:srgbClr val="000000">
                <a:alpha val="7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Text 48"/>
          <p:cNvSpPr/>
          <p:nvPr/>
        </p:nvSpPr>
        <p:spPr>
          <a:xfrm>
            <a:off x="530280" y="3968640"/>
            <a:ext cx="1956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d4e89"/>
                </a:solidFill>
                <a:latin typeface="Calibri"/>
                <a:ea typeface="Calibri"/>
              </a:rPr>
              <a:t>YOLO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Shape 49"/>
          <p:cNvSpPr/>
          <p:nvPr/>
        </p:nvSpPr>
        <p:spPr>
          <a:xfrm>
            <a:off x="2743200" y="3968640"/>
            <a:ext cx="2102760" cy="365400"/>
          </a:xfrm>
          <a:prstGeom prst="roundRect">
            <a:avLst>
              <a:gd name="adj" fmla="val 15000"/>
            </a:avLst>
          </a:prstGeom>
          <a:solidFill>
            <a:srgbClr val="f4f7fa"/>
          </a:solidFill>
          <a:ln w="12700">
            <a:solidFill>
              <a:srgbClr val="d6dfe9"/>
            </a:solidFill>
            <a:round/>
          </a:ln>
          <a:effectLst>
            <a:outerShdw algn="bl" blurRad="101520" dir="16200000" dist="50760" kx="0" ky="0" rotWithShape="0" sx="100000" sy="100000">
              <a:srgbClr val="000000">
                <a:alpha val="7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Text 50"/>
          <p:cNvSpPr/>
          <p:nvPr/>
        </p:nvSpPr>
        <p:spPr>
          <a:xfrm>
            <a:off x="2816280" y="3968640"/>
            <a:ext cx="1956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d4e89"/>
                </a:solidFill>
                <a:latin typeface="Calibri"/>
                <a:ea typeface="Calibri"/>
              </a:rPr>
              <a:t>OCR / ANPR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Shape 51"/>
          <p:cNvSpPr/>
          <p:nvPr/>
        </p:nvSpPr>
        <p:spPr>
          <a:xfrm>
            <a:off x="5029200" y="3968640"/>
            <a:ext cx="2102760" cy="365400"/>
          </a:xfrm>
          <a:prstGeom prst="roundRect">
            <a:avLst>
              <a:gd name="adj" fmla="val 15000"/>
            </a:avLst>
          </a:prstGeom>
          <a:solidFill>
            <a:srgbClr val="f4f7fa"/>
          </a:solidFill>
          <a:ln w="12700">
            <a:solidFill>
              <a:srgbClr val="d6dfe9"/>
            </a:solidFill>
            <a:round/>
          </a:ln>
          <a:effectLst>
            <a:outerShdw algn="bl" blurRad="101520" dir="16200000" dist="50760" kx="0" ky="0" rotWithShape="0" sx="100000" sy="100000">
              <a:srgbClr val="000000">
                <a:alpha val="7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Text 52"/>
          <p:cNvSpPr/>
          <p:nvPr/>
        </p:nvSpPr>
        <p:spPr>
          <a:xfrm>
            <a:off x="5102280" y="3968640"/>
            <a:ext cx="1956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d4e89"/>
                </a:solidFill>
                <a:latin typeface="Calibri"/>
                <a:ea typeface="Calibri"/>
              </a:rPr>
              <a:t>ByteTrack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Shape 53"/>
          <p:cNvSpPr/>
          <p:nvPr/>
        </p:nvSpPr>
        <p:spPr>
          <a:xfrm>
            <a:off x="7315200" y="3968640"/>
            <a:ext cx="2102760" cy="365400"/>
          </a:xfrm>
          <a:prstGeom prst="roundRect">
            <a:avLst>
              <a:gd name="adj" fmla="val 15000"/>
            </a:avLst>
          </a:prstGeom>
          <a:solidFill>
            <a:srgbClr val="f4f7fa"/>
          </a:solidFill>
          <a:ln w="12700">
            <a:solidFill>
              <a:srgbClr val="d6dfe9"/>
            </a:solidFill>
            <a:round/>
          </a:ln>
          <a:effectLst>
            <a:outerShdw algn="bl" blurRad="101520" dir="16200000" dist="50760" kx="0" ky="0" rotWithShape="0" sx="100000" sy="100000">
              <a:srgbClr val="000000">
                <a:alpha val="7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Text 54"/>
          <p:cNvSpPr/>
          <p:nvPr/>
        </p:nvSpPr>
        <p:spPr>
          <a:xfrm>
            <a:off x="7388280" y="3968640"/>
            <a:ext cx="1956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d4e89"/>
                </a:solidFill>
                <a:latin typeface="Calibri"/>
                <a:ea typeface="Calibri"/>
              </a:rPr>
              <a:t>WebSocket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Shape 55"/>
          <p:cNvSpPr/>
          <p:nvPr/>
        </p:nvSpPr>
        <p:spPr>
          <a:xfrm>
            <a:off x="9601200" y="3968640"/>
            <a:ext cx="2102760" cy="365400"/>
          </a:xfrm>
          <a:prstGeom prst="roundRect">
            <a:avLst>
              <a:gd name="adj" fmla="val 15000"/>
            </a:avLst>
          </a:prstGeom>
          <a:solidFill>
            <a:srgbClr val="f4f7fa"/>
          </a:solidFill>
          <a:ln w="12700">
            <a:solidFill>
              <a:srgbClr val="d6dfe9"/>
            </a:solidFill>
            <a:round/>
          </a:ln>
          <a:effectLst>
            <a:outerShdw algn="bl" blurRad="101520" dir="16200000" dist="50760" kx="0" ky="0" rotWithShape="0" sx="100000" sy="100000">
              <a:srgbClr val="000000">
                <a:alpha val="7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Text 56"/>
          <p:cNvSpPr/>
          <p:nvPr/>
        </p:nvSpPr>
        <p:spPr>
          <a:xfrm>
            <a:off x="9674280" y="3968640"/>
            <a:ext cx="1956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d4e89"/>
                </a:solidFill>
                <a:latin typeface="Calibri"/>
                <a:ea typeface="Calibri"/>
              </a:rPr>
              <a:t>Object Storage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Text 57"/>
          <p:cNvSpPr/>
          <p:nvPr/>
        </p:nvSpPr>
        <p:spPr>
          <a:xfrm>
            <a:off x="457200" y="4626720"/>
            <a:ext cx="36572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109" strike="noStrike">
                <a:solidFill>
                  <a:srgbClr val="c2600b"/>
                </a:solidFill>
                <a:latin typeface="Calibri"/>
                <a:ea typeface="Calibri"/>
              </a:rPr>
              <a:t>SECURITY BY DESIGN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Shape 58"/>
          <p:cNvSpPr/>
          <p:nvPr/>
        </p:nvSpPr>
        <p:spPr>
          <a:xfrm>
            <a:off x="457200" y="4937760"/>
            <a:ext cx="2029680" cy="78588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6dfe9"/>
            </a:solidFill>
            <a:round/>
          </a:ln>
          <a:effectLst>
            <a:outerShdw algn="bl" blurRad="101520" dir="16200000" dist="50760" kx="0" ky="0" rotWithShape="0" sx="100000" sy="100000">
              <a:srgbClr val="000000">
                <a:alpha val="7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6" name="Image 7" descr="preencoded.png"/>
          <p:cNvPicPr/>
          <p:nvPr/>
        </p:nvPicPr>
        <p:blipFill>
          <a:blip r:embed="rId8"/>
          <a:stretch/>
        </p:blipFill>
        <p:spPr>
          <a:xfrm>
            <a:off x="621720" y="51937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217" name="Text 59"/>
          <p:cNvSpPr/>
          <p:nvPr/>
        </p:nvSpPr>
        <p:spPr>
          <a:xfrm>
            <a:off x="987480" y="5029200"/>
            <a:ext cx="137124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95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0b2545"/>
                </a:solidFill>
                <a:latin typeface="Arial"/>
                <a:ea typeface="Arial"/>
              </a:rPr>
              <a:t>RBAC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Shape 60"/>
          <p:cNvSpPr/>
          <p:nvPr/>
        </p:nvSpPr>
        <p:spPr>
          <a:xfrm>
            <a:off x="2541960" y="5330880"/>
            <a:ext cx="164520" cy="360"/>
          </a:xfrm>
          <a:prstGeom prst="line">
            <a:avLst/>
          </a:prstGeom>
          <a:ln w="22225">
            <a:solidFill>
              <a:srgbClr val="a9b6c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Shape 61"/>
          <p:cNvSpPr/>
          <p:nvPr/>
        </p:nvSpPr>
        <p:spPr>
          <a:xfrm>
            <a:off x="2761560" y="4937760"/>
            <a:ext cx="2029680" cy="78588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6dfe9"/>
            </a:solidFill>
            <a:round/>
          </a:ln>
          <a:effectLst>
            <a:outerShdw algn="bl" blurRad="101520" dir="16200000" dist="50760" kx="0" ky="0" rotWithShape="0" sx="100000" sy="100000">
              <a:srgbClr val="000000">
                <a:alpha val="7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0" name="Image 8" descr="preencoded.png"/>
          <p:cNvPicPr/>
          <p:nvPr/>
        </p:nvPicPr>
        <p:blipFill>
          <a:blip r:embed="rId9"/>
          <a:stretch/>
        </p:blipFill>
        <p:spPr>
          <a:xfrm>
            <a:off x="2926080" y="51937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221" name="Text 62"/>
          <p:cNvSpPr/>
          <p:nvPr/>
        </p:nvSpPr>
        <p:spPr>
          <a:xfrm>
            <a:off x="3291840" y="5029200"/>
            <a:ext cx="137124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95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0b2545"/>
                </a:solidFill>
                <a:latin typeface="Arial"/>
                <a:ea typeface="Arial"/>
              </a:rPr>
              <a:t>JWT AUTH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Shape 63"/>
          <p:cNvSpPr/>
          <p:nvPr/>
        </p:nvSpPr>
        <p:spPr>
          <a:xfrm>
            <a:off x="4846320" y="5330880"/>
            <a:ext cx="164520" cy="360"/>
          </a:xfrm>
          <a:prstGeom prst="line">
            <a:avLst/>
          </a:prstGeom>
          <a:ln w="22225">
            <a:solidFill>
              <a:srgbClr val="a9b6c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Shape 64"/>
          <p:cNvSpPr/>
          <p:nvPr/>
        </p:nvSpPr>
        <p:spPr>
          <a:xfrm>
            <a:off x="5065920" y="4937760"/>
            <a:ext cx="2029680" cy="78588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6dfe9"/>
            </a:solidFill>
            <a:round/>
          </a:ln>
          <a:effectLst>
            <a:outerShdw algn="bl" blurRad="101520" dir="16200000" dist="50760" kx="0" ky="0" rotWithShape="0" sx="100000" sy="100000">
              <a:srgbClr val="000000">
                <a:alpha val="7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4" name="Image 9" descr="preencoded.png"/>
          <p:cNvPicPr/>
          <p:nvPr/>
        </p:nvPicPr>
        <p:blipFill>
          <a:blip r:embed="rId10"/>
          <a:stretch/>
        </p:blipFill>
        <p:spPr>
          <a:xfrm>
            <a:off x="5230440" y="51937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225" name="Text 65"/>
          <p:cNvSpPr/>
          <p:nvPr/>
        </p:nvSpPr>
        <p:spPr>
          <a:xfrm>
            <a:off x="5596200" y="5029200"/>
            <a:ext cx="137124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95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0b2545"/>
                </a:solidFill>
                <a:latin typeface="Arial"/>
                <a:ea typeface="Arial"/>
              </a:rPr>
              <a:t>AUDIT LOGS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Shape 66"/>
          <p:cNvSpPr/>
          <p:nvPr/>
        </p:nvSpPr>
        <p:spPr>
          <a:xfrm>
            <a:off x="7150320" y="5330880"/>
            <a:ext cx="164880" cy="360"/>
          </a:xfrm>
          <a:prstGeom prst="line">
            <a:avLst/>
          </a:prstGeom>
          <a:ln w="22225">
            <a:solidFill>
              <a:srgbClr val="a9b6c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Shape 67"/>
          <p:cNvSpPr/>
          <p:nvPr/>
        </p:nvSpPr>
        <p:spPr>
          <a:xfrm>
            <a:off x="7369920" y="4937760"/>
            <a:ext cx="2029680" cy="78588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6dfe9"/>
            </a:solidFill>
            <a:round/>
          </a:ln>
          <a:effectLst>
            <a:outerShdw algn="bl" blurRad="101520" dir="16200000" dist="50760" kx="0" ky="0" rotWithShape="0" sx="100000" sy="100000">
              <a:srgbClr val="000000">
                <a:alpha val="7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8" name="Image 10" descr="preencoded.png"/>
          <p:cNvPicPr/>
          <p:nvPr/>
        </p:nvPicPr>
        <p:blipFill>
          <a:blip r:embed="rId11"/>
          <a:stretch/>
        </p:blipFill>
        <p:spPr>
          <a:xfrm>
            <a:off x="7534800" y="51937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229" name="Text 68"/>
          <p:cNvSpPr/>
          <p:nvPr/>
        </p:nvSpPr>
        <p:spPr>
          <a:xfrm>
            <a:off x="7900560" y="5029200"/>
            <a:ext cx="137124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95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0b2545"/>
                </a:solidFill>
                <a:latin typeface="Arial"/>
                <a:ea typeface="Arial"/>
              </a:rPr>
              <a:t>ENCRYPTION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Shape 69"/>
          <p:cNvSpPr/>
          <p:nvPr/>
        </p:nvSpPr>
        <p:spPr>
          <a:xfrm>
            <a:off x="9454680" y="5330880"/>
            <a:ext cx="164520" cy="360"/>
          </a:xfrm>
          <a:prstGeom prst="line">
            <a:avLst/>
          </a:prstGeom>
          <a:ln w="22225">
            <a:solidFill>
              <a:srgbClr val="a9b6c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Shape 70"/>
          <p:cNvSpPr/>
          <p:nvPr/>
        </p:nvSpPr>
        <p:spPr>
          <a:xfrm>
            <a:off x="9674280" y="4937760"/>
            <a:ext cx="2029680" cy="78588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6dfe9"/>
            </a:solidFill>
            <a:round/>
          </a:ln>
          <a:effectLst>
            <a:outerShdw algn="bl" blurRad="101520" dir="16200000" dist="50760" kx="0" ky="0" rotWithShape="0" sx="100000" sy="100000">
              <a:srgbClr val="000000">
                <a:alpha val="7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2" name="Image 11" descr="preencoded.png"/>
          <p:cNvPicPr/>
          <p:nvPr/>
        </p:nvPicPr>
        <p:blipFill>
          <a:blip r:embed="rId12"/>
          <a:stretch/>
        </p:blipFill>
        <p:spPr>
          <a:xfrm>
            <a:off x="9838800" y="51937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233" name="Text 71"/>
          <p:cNvSpPr/>
          <p:nvPr/>
        </p:nvSpPr>
        <p:spPr>
          <a:xfrm>
            <a:off x="10204560" y="5029200"/>
            <a:ext cx="137124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95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0b2545"/>
                </a:solidFill>
                <a:latin typeface="Arial"/>
                <a:ea typeface="Arial"/>
              </a:rPr>
              <a:t>EVIDENCE ACCESS CONTROL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Text 72"/>
          <p:cNvSpPr/>
          <p:nvPr/>
        </p:nvSpPr>
        <p:spPr>
          <a:xfrm>
            <a:off x="457200" y="5961960"/>
            <a:ext cx="11246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5b6b7b"/>
                </a:solidFill>
                <a:latin typeface="Calibri"/>
                <a:ea typeface="Calibri"/>
              </a:rPr>
              <a:t>Metadata-first design — video stays at source, only events and evidence pointers move across the network.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Text 0"/>
          <p:cNvSpPr/>
          <p:nvPr/>
        </p:nvSpPr>
        <p:spPr>
          <a:xfrm>
            <a:off x="457200" y="292680"/>
            <a:ext cx="112467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38" strike="noStrike">
                <a:solidFill>
                  <a:srgbClr val="0b2545"/>
                </a:solidFill>
                <a:latin typeface="Arial"/>
                <a:ea typeface="Arial"/>
              </a:rPr>
              <a:t>FEASIBILITY &amp; VIABILITY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Text 1"/>
          <p:cNvSpPr/>
          <p:nvPr/>
        </p:nvSpPr>
        <p:spPr>
          <a:xfrm>
            <a:off x="457200" y="768240"/>
            <a:ext cx="11246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b6b7b"/>
                </a:solidFill>
                <a:latin typeface="Calibri"/>
                <a:ea typeface="Calibri"/>
              </a:rPr>
              <a:t>Buildable today · operable by police teams · designed to scale statewide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Shape 2"/>
          <p:cNvSpPr/>
          <p:nvPr/>
        </p:nvSpPr>
        <p:spPr>
          <a:xfrm>
            <a:off x="457200" y="1115640"/>
            <a:ext cx="3565800" cy="26697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d6dfe9"/>
            </a:solidFill>
            <a:round/>
          </a:ln>
          <a:effectLst>
            <a:outerShdw algn="bl" blurRad="101520" dir="5400000" dist="12600" kx="0" ky="0" rotWithShape="0" sx="100000" sy="100000">
              <a:srgbClr val="9fb0c2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Shape 3"/>
          <p:cNvSpPr/>
          <p:nvPr/>
        </p:nvSpPr>
        <p:spPr>
          <a:xfrm>
            <a:off x="457200" y="1115640"/>
            <a:ext cx="3565800" cy="566640"/>
          </a:xfrm>
          <a:prstGeom prst="roundRect">
            <a:avLst>
              <a:gd name="adj" fmla="val 12903"/>
            </a:avLst>
          </a:prstGeom>
          <a:solidFill>
            <a:srgbClr val="0b2545"/>
          </a:solidFill>
          <a:ln w="12700">
            <a:solidFill>
              <a:srgbClr val="0b25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39" name="Image 0" descr="preencoded.png"/>
          <p:cNvPicPr/>
          <p:nvPr/>
        </p:nvPicPr>
        <p:blipFill>
          <a:blip r:embed="rId1"/>
          <a:stretch/>
        </p:blipFill>
        <p:spPr>
          <a:xfrm>
            <a:off x="658440" y="127116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240" name="Text 4"/>
          <p:cNvSpPr/>
          <p:nvPr/>
        </p:nvSpPr>
        <p:spPr>
          <a:xfrm>
            <a:off x="1005840" y="1115640"/>
            <a:ext cx="28800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09" strike="noStrike">
                <a:solidFill>
                  <a:srgbClr val="ffffff"/>
                </a:solidFill>
                <a:latin typeface="Arial"/>
                <a:ea typeface="Arial"/>
              </a:rPr>
              <a:t>TECHNICAL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Shape 5"/>
          <p:cNvSpPr/>
          <p:nvPr/>
        </p:nvSpPr>
        <p:spPr>
          <a:xfrm>
            <a:off x="676800" y="1947600"/>
            <a:ext cx="63720" cy="63720"/>
          </a:xfrm>
          <a:prstGeom prst="ellipse">
            <a:avLst/>
          </a:prstGeom>
          <a:solidFill>
            <a:srgbClr val="c2600b"/>
          </a:solidFill>
          <a:ln w="12700">
            <a:solidFill>
              <a:srgbClr val="c260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" name="Text 6"/>
          <p:cNvSpPr/>
          <p:nvPr/>
        </p:nvSpPr>
        <p:spPr>
          <a:xfrm>
            <a:off x="841320" y="1810440"/>
            <a:ext cx="2998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7222e"/>
                </a:solidFill>
                <a:latin typeface="Calibri"/>
                <a:ea typeface="Calibri"/>
              </a:rPr>
              <a:t>Vendor-neutral architecture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Shape 7"/>
          <p:cNvSpPr/>
          <p:nvPr/>
        </p:nvSpPr>
        <p:spPr>
          <a:xfrm>
            <a:off x="676800" y="2331720"/>
            <a:ext cx="63720" cy="63720"/>
          </a:xfrm>
          <a:prstGeom prst="ellipse">
            <a:avLst/>
          </a:prstGeom>
          <a:solidFill>
            <a:srgbClr val="c2600b"/>
          </a:solidFill>
          <a:ln w="12700">
            <a:solidFill>
              <a:srgbClr val="c260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" name="Text 8"/>
          <p:cNvSpPr/>
          <p:nvPr/>
        </p:nvSpPr>
        <p:spPr>
          <a:xfrm>
            <a:off x="841320" y="2194560"/>
            <a:ext cx="2998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7222e"/>
                </a:solidFill>
                <a:latin typeface="Calibri"/>
                <a:ea typeface="Calibri"/>
              </a:rPr>
              <a:t>Open standards: RTSP / ONVIF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Shape 9"/>
          <p:cNvSpPr/>
          <p:nvPr/>
        </p:nvSpPr>
        <p:spPr>
          <a:xfrm>
            <a:off x="676800" y="2715840"/>
            <a:ext cx="63720" cy="63720"/>
          </a:xfrm>
          <a:prstGeom prst="ellipse">
            <a:avLst/>
          </a:prstGeom>
          <a:solidFill>
            <a:srgbClr val="c2600b"/>
          </a:solidFill>
          <a:ln w="12700">
            <a:solidFill>
              <a:srgbClr val="c260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6" name="Text 10"/>
          <p:cNvSpPr/>
          <p:nvPr/>
        </p:nvSpPr>
        <p:spPr>
          <a:xfrm>
            <a:off x="841320" y="2578680"/>
            <a:ext cx="2998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7222e"/>
                </a:solidFill>
                <a:latin typeface="Calibri"/>
                <a:ea typeface="Calibri"/>
              </a:rPr>
              <a:t>Modular AI microservices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Shape 11"/>
          <p:cNvSpPr/>
          <p:nvPr/>
        </p:nvSpPr>
        <p:spPr>
          <a:xfrm>
            <a:off x="676800" y="3099960"/>
            <a:ext cx="63720" cy="63720"/>
          </a:xfrm>
          <a:prstGeom prst="ellipse">
            <a:avLst/>
          </a:prstGeom>
          <a:solidFill>
            <a:srgbClr val="c2600b"/>
          </a:solidFill>
          <a:ln w="12700">
            <a:solidFill>
              <a:srgbClr val="c260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" name="Text 12"/>
          <p:cNvSpPr/>
          <p:nvPr/>
        </p:nvSpPr>
        <p:spPr>
          <a:xfrm>
            <a:off x="841320" y="2962800"/>
            <a:ext cx="2998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7222e"/>
                </a:solidFill>
                <a:latin typeface="Calibri"/>
                <a:ea typeface="Calibri"/>
              </a:rPr>
              <a:t>PostgreSQL / PostGIS core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Shape 13"/>
          <p:cNvSpPr/>
          <p:nvPr/>
        </p:nvSpPr>
        <p:spPr>
          <a:xfrm>
            <a:off x="676800" y="3483720"/>
            <a:ext cx="63720" cy="63720"/>
          </a:xfrm>
          <a:prstGeom prst="ellipse">
            <a:avLst/>
          </a:prstGeom>
          <a:solidFill>
            <a:srgbClr val="c2600b"/>
          </a:solidFill>
          <a:ln w="12700">
            <a:solidFill>
              <a:srgbClr val="c260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" name="Text 14"/>
          <p:cNvSpPr/>
          <p:nvPr/>
        </p:nvSpPr>
        <p:spPr>
          <a:xfrm>
            <a:off x="841320" y="3346560"/>
            <a:ext cx="2998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7222e"/>
                </a:solidFill>
                <a:latin typeface="Calibri"/>
                <a:ea typeface="Calibri"/>
              </a:rPr>
              <a:t>Edge + central processing ready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Shape 15"/>
          <p:cNvSpPr/>
          <p:nvPr/>
        </p:nvSpPr>
        <p:spPr>
          <a:xfrm>
            <a:off x="4297680" y="1115640"/>
            <a:ext cx="3565800" cy="26697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d6dfe9"/>
            </a:solidFill>
            <a:round/>
          </a:ln>
          <a:effectLst>
            <a:outerShdw algn="bl" blurRad="101520" dir="5400000" dist="12600" kx="0" ky="0" rotWithShape="0" sx="100000" sy="100000">
              <a:srgbClr val="9fb0c2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Shape 16"/>
          <p:cNvSpPr/>
          <p:nvPr/>
        </p:nvSpPr>
        <p:spPr>
          <a:xfrm>
            <a:off x="4297680" y="1115640"/>
            <a:ext cx="3565800" cy="566640"/>
          </a:xfrm>
          <a:prstGeom prst="roundRect">
            <a:avLst>
              <a:gd name="adj" fmla="val 12903"/>
            </a:avLst>
          </a:prstGeom>
          <a:solidFill>
            <a:srgbClr val="0b2545"/>
          </a:solidFill>
          <a:ln w="12700">
            <a:solidFill>
              <a:srgbClr val="0b25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53" name="Image 1" descr="preencoded.png"/>
          <p:cNvPicPr/>
          <p:nvPr/>
        </p:nvPicPr>
        <p:blipFill>
          <a:blip r:embed="rId2"/>
          <a:stretch/>
        </p:blipFill>
        <p:spPr>
          <a:xfrm>
            <a:off x="4498920" y="127116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254" name="Text 17"/>
          <p:cNvSpPr/>
          <p:nvPr/>
        </p:nvSpPr>
        <p:spPr>
          <a:xfrm>
            <a:off x="4846320" y="1115640"/>
            <a:ext cx="28800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09" strike="noStrike">
                <a:solidFill>
                  <a:srgbClr val="ffffff"/>
                </a:solidFill>
                <a:latin typeface="Arial"/>
                <a:ea typeface="Arial"/>
              </a:rPr>
              <a:t>OPERATIONAL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Shape 18"/>
          <p:cNvSpPr/>
          <p:nvPr/>
        </p:nvSpPr>
        <p:spPr>
          <a:xfrm>
            <a:off x="4517280" y="1947600"/>
            <a:ext cx="63720" cy="63720"/>
          </a:xfrm>
          <a:prstGeom prst="ellipse">
            <a:avLst/>
          </a:prstGeom>
          <a:solidFill>
            <a:srgbClr val="c2600b"/>
          </a:solidFill>
          <a:ln w="12700">
            <a:solidFill>
              <a:srgbClr val="c260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" name="Text 19"/>
          <p:cNvSpPr/>
          <p:nvPr/>
        </p:nvSpPr>
        <p:spPr>
          <a:xfrm>
            <a:off x="4681800" y="1810440"/>
            <a:ext cx="2998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7222e"/>
                </a:solidFill>
                <a:latin typeface="Calibri"/>
                <a:ea typeface="Calibri"/>
              </a:rPr>
              <a:t>Single command-centre interface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Shape 20"/>
          <p:cNvSpPr/>
          <p:nvPr/>
        </p:nvSpPr>
        <p:spPr>
          <a:xfrm>
            <a:off x="4517280" y="2331720"/>
            <a:ext cx="63720" cy="63720"/>
          </a:xfrm>
          <a:prstGeom prst="ellipse">
            <a:avLst/>
          </a:prstGeom>
          <a:solidFill>
            <a:srgbClr val="c2600b"/>
          </a:solidFill>
          <a:ln w="12700">
            <a:solidFill>
              <a:srgbClr val="c260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8" name="Text 21"/>
          <p:cNvSpPr/>
          <p:nvPr/>
        </p:nvSpPr>
        <p:spPr>
          <a:xfrm>
            <a:off x="4681800" y="2194560"/>
            <a:ext cx="2998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7222e"/>
                </a:solidFill>
                <a:latin typeface="Calibri"/>
                <a:ea typeface="Calibri"/>
              </a:rPr>
              <a:t>GIS-based camera management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Shape 22"/>
          <p:cNvSpPr/>
          <p:nvPr/>
        </p:nvSpPr>
        <p:spPr>
          <a:xfrm>
            <a:off x="4517280" y="2715840"/>
            <a:ext cx="63720" cy="63720"/>
          </a:xfrm>
          <a:prstGeom prst="ellipse">
            <a:avLst/>
          </a:prstGeom>
          <a:solidFill>
            <a:srgbClr val="c2600b"/>
          </a:solidFill>
          <a:ln w="12700">
            <a:solidFill>
              <a:srgbClr val="c260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0" name="Text 23"/>
          <p:cNvSpPr/>
          <p:nvPr/>
        </p:nvSpPr>
        <p:spPr>
          <a:xfrm>
            <a:off x="4681800" y="2578680"/>
            <a:ext cx="2998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7222e"/>
                </a:solidFill>
                <a:latin typeface="Calibri"/>
                <a:ea typeface="Calibri"/>
              </a:rPr>
              <a:t>Automated alerting workflows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Shape 24"/>
          <p:cNvSpPr/>
          <p:nvPr/>
        </p:nvSpPr>
        <p:spPr>
          <a:xfrm>
            <a:off x="4517280" y="3099960"/>
            <a:ext cx="63720" cy="63720"/>
          </a:xfrm>
          <a:prstGeom prst="ellipse">
            <a:avLst/>
          </a:prstGeom>
          <a:solidFill>
            <a:srgbClr val="c2600b"/>
          </a:solidFill>
          <a:ln w="12700">
            <a:solidFill>
              <a:srgbClr val="c260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2" name="Text 25"/>
          <p:cNvSpPr/>
          <p:nvPr/>
        </p:nvSpPr>
        <p:spPr>
          <a:xfrm>
            <a:off x="4681800" y="2962800"/>
            <a:ext cx="2998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7222e"/>
                </a:solidFill>
                <a:latin typeface="Calibri"/>
                <a:ea typeface="Calibri"/>
              </a:rPr>
              <a:t>Investigation timelines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Shape 26"/>
          <p:cNvSpPr/>
          <p:nvPr/>
        </p:nvSpPr>
        <p:spPr>
          <a:xfrm>
            <a:off x="4517280" y="3483720"/>
            <a:ext cx="63720" cy="63720"/>
          </a:xfrm>
          <a:prstGeom prst="ellipse">
            <a:avLst/>
          </a:prstGeom>
          <a:solidFill>
            <a:srgbClr val="c2600b"/>
          </a:solidFill>
          <a:ln w="12700">
            <a:solidFill>
              <a:srgbClr val="c260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4" name="Text 27"/>
          <p:cNvSpPr/>
          <p:nvPr/>
        </p:nvSpPr>
        <p:spPr>
          <a:xfrm>
            <a:off x="4681800" y="3346560"/>
            <a:ext cx="2998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7222e"/>
                </a:solidFill>
                <a:latin typeface="Calibri"/>
                <a:ea typeface="Calibri"/>
              </a:rPr>
              <a:t>Evidence &amp; report generation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Shape 28"/>
          <p:cNvSpPr/>
          <p:nvPr/>
        </p:nvSpPr>
        <p:spPr>
          <a:xfrm>
            <a:off x="8138160" y="1115640"/>
            <a:ext cx="3565800" cy="26697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d6dfe9"/>
            </a:solidFill>
            <a:round/>
          </a:ln>
          <a:effectLst>
            <a:outerShdw algn="bl" blurRad="101520" dir="5400000" dist="12600" kx="0" ky="0" rotWithShape="0" sx="100000" sy="100000">
              <a:srgbClr val="9fb0c2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Shape 29"/>
          <p:cNvSpPr/>
          <p:nvPr/>
        </p:nvSpPr>
        <p:spPr>
          <a:xfrm>
            <a:off x="8138160" y="1115640"/>
            <a:ext cx="3565800" cy="566640"/>
          </a:xfrm>
          <a:prstGeom prst="roundRect">
            <a:avLst>
              <a:gd name="adj" fmla="val 12903"/>
            </a:avLst>
          </a:prstGeom>
          <a:solidFill>
            <a:srgbClr val="0b2545"/>
          </a:solidFill>
          <a:ln w="12700">
            <a:solidFill>
              <a:srgbClr val="0b25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67" name="Image 2" descr="preencoded.png"/>
          <p:cNvPicPr/>
          <p:nvPr/>
        </p:nvPicPr>
        <p:blipFill>
          <a:blip r:embed="rId3"/>
          <a:stretch/>
        </p:blipFill>
        <p:spPr>
          <a:xfrm>
            <a:off x="8339400" y="127116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268" name="Text 30"/>
          <p:cNvSpPr/>
          <p:nvPr/>
        </p:nvSpPr>
        <p:spPr>
          <a:xfrm>
            <a:off x="8686800" y="1115640"/>
            <a:ext cx="28800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09" strike="noStrike">
                <a:solidFill>
                  <a:srgbClr val="ffffff"/>
                </a:solidFill>
                <a:latin typeface="Arial"/>
                <a:ea typeface="Arial"/>
              </a:rPr>
              <a:t>SCALABILITY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Shape 31"/>
          <p:cNvSpPr/>
          <p:nvPr/>
        </p:nvSpPr>
        <p:spPr>
          <a:xfrm>
            <a:off x="8357760" y="1947600"/>
            <a:ext cx="63720" cy="63720"/>
          </a:xfrm>
          <a:prstGeom prst="ellipse">
            <a:avLst/>
          </a:prstGeom>
          <a:solidFill>
            <a:srgbClr val="c2600b"/>
          </a:solidFill>
          <a:ln w="12700">
            <a:solidFill>
              <a:srgbClr val="c260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0" name="Text 32"/>
          <p:cNvSpPr/>
          <p:nvPr/>
        </p:nvSpPr>
        <p:spPr>
          <a:xfrm>
            <a:off x="8522280" y="1810440"/>
            <a:ext cx="2998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7222e"/>
                </a:solidFill>
                <a:latin typeface="Calibri"/>
                <a:ea typeface="Calibri"/>
              </a:rPr>
              <a:t>Regional / edge AI processing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Shape 33"/>
          <p:cNvSpPr/>
          <p:nvPr/>
        </p:nvSpPr>
        <p:spPr>
          <a:xfrm>
            <a:off x="8357760" y="2331720"/>
            <a:ext cx="63720" cy="63720"/>
          </a:xfrm>
          <a:prstGeom prst="ellipse">
            <a:avLst/>
          </a:prstGeom>
          <a:solidFill>
            <a:srgbClr val="c2600b"/>
          </a:solidFill>
          <a:ln w="12700">
            <a:solidFill>
              <a:srgbClr val="c260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2" name="Text 34"/>
          <p:cNvSpPr/>
          <p:nvPr/>
        </p:nvSpPr>
        <p:spPr>
          <a:xfrm>
            <a:off x="8522280" y="2194560"/>
            <a:ext cx="2998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7222e"/>
                </a:solidFill>
                <a:latin typeface="Calibri"/>
                <a:ea typeface="Calibri"/>
              </a:rPr>
              <a:t>Metadata-first architecture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Shape 35"/>
          <p:cNvSpPr/>
          <p:nvPr/>
        </p:nvSpPr>
        <p:spPr>
          <a:xfrm>
            <a:off x="8357760" y="2715840"/>
            <a:ext cx="63720" cy="63720"/>
          </a:xfrm>
          <a:prstGeom prst="ellipse">
            <a:avLst/>
          </a:prstGeom>
          <a:solidFill>
            <a:srgbClr val="c2600b"/>
          </a:solidFill>
          <a:ln w="12700">
            <a:solidFill>
              <a:srgbClr val="c260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4" name="Text 36"/>
          <p:cNvSpPr/>
          <p:nvPr/>
        </p:nvSpPr>
        <p:spPr>
          <a:xfrm>
            <a:off x="8522280" y="2578680"/>
            <a:ext cx="2998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7222e"/>
                </a:solidFill>
                <a:latin typeface="Calibri"/>
                <a:ea typeface="Calibri"/>
              </a:rPr>
              <a:t>Load-balanced analytics workers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Shape 37"/>
          <p:cNvSpPr/>
          <p:nvPr/>
        </p:nvSpPr>
        <p:spPr>
          <a:xfrm>
            <a:off x="8357760" y="3099960"/>
            <a:ext cx="63720" cy="63720"/>
          </a:xfrm>
          <a:prstGeom prst="ellipse">
            <a:avLst/>
          </a:prstGeom>
          <a:solidFill>
            <a:srgbClr val="c2600b"/>
          </a:solidFill>
          <a:ln w="12700">
            <a:solidFill>
              <a:srgbClr val="c260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6" name="Text 38"/>
          <p:cNvSpPr/>
          <p:nvPr/>
        </p:nvSpPr>
        <p:spPr>
          <a:xfrm>
            <a:off x="8522280" y="2962800"/>
            <a:ext cx="2998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7222e"/>
                </a:solidFill>
                <a:latin typeface="Calibri"/>
                <a:ea typeface="Calibri"/>
              </a:rPr>
              <a:t>Hot / Warm / Cold storage tiers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Shape 39"/>
          <p:cNvSpPr/>
          <p:nvPr/>
        </p:nvSpPr>
        <p:spPr>
          <a:xfrm>
            <a:off x="8357760" y="3483720"/>
            <a:ext cx="63720" cy="63720"/>
          </a:xfrm>
          <a:prstGeom prst="ellipse">
            <a:avLst/>
          </a:prstGeom>
          <a:solidFill>
            <a:srgbClr val="c2600b"/>
          </a:solidFill>
          <a:ln w="12700">
            <a:solidFill>
              <a:srgbClr val="c260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8" name="Text 40"/>
          <p:cNvSpPr/>
          <p:nvPr/>
        </p:nvSpPr>
        <p:spPr>
          <a:xfrm>
            <a:off x="8522280" y="3346560"/>
            <a:ext cx="2998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7222e"/>
                </a:solidFill>
                <a:latin typeface="Calibri"/>
                <a:ea typeface="Calibri"/>
              </a:rPr>
              <a:t>Designed for 80,000-camera scale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Text 41"/>
          <p:cNvSpPr/>
          <p:nvPr/>
        </p:nvSpPr>
        <p:spPr>
          <a:xfrm>
            <a:off x="457200" y="3968640"/>
            <a:ext cx="5486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109" strike="noStrike">
                <a:solidFill>
                  <a:srgbClr val="c2600b"/>
                </a:solidFill>
                <a:latin typeface="Calibri"/>
                <a:ea typeface="Calibri"/>
              </a:rPr>
              <a:t>SAME ARCHITECTURE — HORIZONTAL SCALE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Shape 42"/>
          <p:cNvSpPr/>
          <p:nvPr/>
        </p:nvSpPr>
        <p:spPr>
          <a:xfrm>
            <a:off x="457200" y="4242960"/>
            <a:ext cx="2651400" cy="712800"/>
          </a:xfrm>
          <a:prstGeom prst="roundRect">
            <a:avLst>
              <a:gd name="adj" fmla="val 10256"/>
            </a:avLst>
          </a:prstGeom>
          <a:solidFill>
            <a:srgbClr val="f4f7fa"/>
          </a:solidFill>
          <a:ln w="12700">
            <a:solidFill>
              <a:srgbClr val="d6dfe9"/>
            </a:solidFill>
            <a:round/>
          </a:ln>
          <a:effectLst>
            <a:outerShdw algn="bl" blurRad="101520" dir="16200000" dist="50760" kx="0" ky="0" rotWithShape="0" sx="100000" sy="100000">
              <a:srgbClr val="000000">
                <a:alpha val="7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Text 43"/>
          <p:cNvSpPr/>
          <p:nvPr/>
        </p:nvSpPr>
        <p:spPr>
          <a:xfrm>
            <a:off x="567000" y="4343400"/>
            <a:ext cx="2431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b2545"/>
                </a:solidFill>
                <a:latin typeface="Arial"/>
                <a:ea typeface="Arial"/>
              </a:rPr>
              <a:t>50 CAMERAS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Text 44"/>
          <p:cNvSpPr/>
          <p:nvPr/>
        </p:nvSpPr>
        <p:spPr>
          <a:xfrm>
            <a:off x="567000" y="4626720"/>
            <a:ext cx="24318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b7b"/>
                </a:solidFill>
                <a:latin typeface="Calibri"/>
                <a:ea typeface="Calibri"/>
              </a:rPr>
              <a:t>Pilot / demo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Shape 45"/>
          <p:cNvSpPr/>
          <p:nvPr/>
        </p:nvSpPr>
        <p:spPr>
          <a:xfrm>
            <a:off x="3182040" y="4599360"/>
            <a:ext cx="264960" cy="360"/>
          </a:xfrm>
          <a:prstGeom prst="line">
            <a:avLst/>
          </a:prstGeom>
          <a:ln w="22225">
            <a:solidFill>
              <a:srgbClr val="c2600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Shape 46"/>
          <p:cNvSpPr/>
          <p:nvPr/>
        </p:nvSpPr>
        <p:spPr>
          <a:xfrm>
            <a:off x="3520440" y="4242960"/>
            <a:ext cx="2651400" cy="712800"/>
          </a:xfrm>
          <a:prstGeom prst="roundRect">
            <a:avLst>
              <a:gd name="adj" fmla="val 10256"/>
            </a:avLst>
          </a:prstGeom>
          <a:solidFill>
            <a:srgbClr val="f4f7fa"/>
          </a:solidFill>
          <a:ln w="12700">
            <a:solidFill>
              <a:srgbClr val="d6dfe9"/>
            </a:solidFill>
            <a:round/>
          </a:ln>
          <a:effectLst>
            <a:outerShdw algn="bl" blurRad="101520" dir="16200000" dist="50760" kx="0" ky="0" rotWithShape="0" sx="100000" sy="100000">
              <a:srgbClr val="000000">
                <a:alpha val="7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Text 47"/>
          <p:cNvSpPr/>
          <p:nvPr/>
        </p:nvSpPr>
        <p:spPr>
          <a:xfrm>
            <a:off x="3630240" y="4343400"/>
            <a:ext cx="2431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b2545"/>
                </a:solidFill>
                <a:latin typeface="Arial"/>
                <a:ea typeface="Arial"/>
              </a:rPr>
              <a:t>5,000 CAMERAS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Text 48"/>
          <p:cNvSpPr/>
          <p:nvPr/>
        </p:nvSpPr>
        <p:spPr>
          <a:xfrm>
            <a:off x="3630240" y="4626720"/>
            <a:ext cx="24318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b7b"/>
                </a:solidFill>
                <a:latin typeface="Calibri"/>
                <a:ea typeface="Calibri"/>
              </a:rPr>
              <a:t>City-wide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Shape 49"/>
          <p:cNvSpPr/>
          <p:nvPr/>
        </p:nvSpPr>
        <p:spPr>
          <a:xfrm>
            <a:off x="6245280" y="4599360"/>
            <a:ext cx="264960" cy="360"/>
          </a:xfrm>
          <a:prstGeom prst="line">
            <a:avLst/>
          </a:prstGeom>
          <a:ln w="22225">
            <a:solidFill>
              <a:srgbClr val="c2600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Shape 50"/>
          <p:cNvSpPr/>
          <p:nvPr/>
        </p:nvSpPr>
        <p:spPr>
          <a:xfrm>
            <a:off x="6583680" y="4242960"/>
            <a:ext cx="2651400" cy="712800"/>
          </a:xfrm>
          <a:prstGeom prst="roundRect">
            <a:avLst>
              <a:gd name="adj" fmla="val 10256"/>
            </a:avLst>
          </a:prstGeom>
          <a:solidFill>
            <a:srgbClr val="0b2545"/>
          </a:solidFill>
          <a:ln w="12700">
            <a:solidFill>
              <a:srgbClr val="0b2545"/>
            </a:solidFill>
            <a:round/>
          </a:ln>
          <a:effectLst>
            <a:outerShdw algn="bl" blurRad="101520" dir="16200000" dist="50760" kx="0" ky="0" rotWithShape="0" sx="100000" sy="100000">
              <a:srgbClr val="000000">
                <a:alpha val="7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9" name="Text 51"/>
          <p:cNvSpPr/>
          <p:nvPr/>
        </p:nvSpPr>
        <p:spPr>
          <a:xfrm>
            <a:off x="6693480" y="4343400"/>
            <a:ext cx="2431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Arial"/>
                <a:ea typeface="Arial"/>
              </a:rPr>
              <a:t>80,000 CAMERAS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Text 52"/>
          <p:cNvSpPr/>
          <p:nvPr/>
        </p:nvSpPr>
        <p:spPr>
          <a:xfrm>
            <a:off x="6693480" y="4626720"/>
            <a:ext cx="24318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bfd2e8"/>
                </a:solidFill>
                <a:latin typeface="Calibri"/>
                <a:ea typeface="Calibri"/>
              </a:rPr>
              <a:t>Statewide (Designed)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Text 53"/>
          <p:cNvSpPr/>
          <p:nvPr/>
        </p:nvSpPr>
        <p:spPr>
          <a:xfrm>
            <a:off x="9464040" y="4242960"/>
            <a:ext cx="223992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5b6b7b"/>
                </a:solidFill>
                <a:latin typeface="Calibri"/>
                <a:ea typeface="Calibri"/>
              </a:rPr>
              <a:t>Architecture layers stay constant — compute and storage scale out.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Text 54"/>
          <p:cNvSpPr/>
          <p:nvPr/>
        </p:nvSpPr>
        <p:spPr>
          <a:xfrm>
            <a:off x="457200" y="5175360"/>
            <a:ext cx="5486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109" strike="noStrike">
                <a:solidFill>
                  <a:srgbClr val="c2600b"/>
                </a:solidFill>
                <a:latin typeface="Calibri"/>
                <a:ea typeface="Calibri"/>
              </a:rPr>
              <a:t>RISKS  →  MITIGATION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Shape 55"/>
          <p:cNvSpPr/>
          <p:nvPr/>
        </p:nvSpPr>
        <p:spPr>
          <a:xfrm>
            <a:off x="457200" y="5449680"/>
            <a:ext cx="2639880" cy="749520"/>
          </a:xfrm>
          <a:prstGeom prst="roundRect">
            <a:avLst>
              <a:gd name="adj" fmla="val 9756"/>
            </a:avLst>
          </a:prstGeom>
          <a:solidFill>
            <a:srgbClr val="f4f7fa"/>
          </a:solidFill>
          <a:ln w="12700">
            <a:solidFill>
              <a:srgbClr val="d6dfe9"/>
            </a:solidFill>
            <a:round/>
          </a:ln>
          <a:effectLst>
            <a:outerShdw algn="bl" blurRad="101520" dir="16200000" dist="50760" kx="0" ky="0" rotWithShape="0" sx="100000" sy="100000">
              <a:srgbClr val="000000">
                <a:alpha val="7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Text 56"/>
          <p:cNvSpPr/>
          <p:nvPr/>
        </p:nvSpPr>
        <p:spPr>
          <a:xfrm>
            <a:off x="603360" y="5541120"/>
            <a:ext cx="23472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a03a10"/>
                </a:solidFill>
                <a:latin typeface="Calibri"/>
                <a:ea typeface="Calibri"/>
              </a:rPr>
              <a:t>Bandwidth constraints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Text 57"/>
          <p:cNvSpPr/>
          <p:nvPr/>
        </p:nvSpPr>
        <p:spPr>
          <a:xfrm>
            <a:off x="603360" y="5815440"/>
            <a:ext cx="2347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b2545"/>
                </a:solidFill>
                <a:latin typeface="Calibri"/>
                <a:ea typeface="Calibri"/>
              </a:rPr>
              <a:t>Edge processing at source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Shape 58"/>
          <p:cNvSpPr/>
          <p:nvPr/>
        </p:nvSpPr>
        <p:spPr>
          <a:xfrm>
            <a:off x="3326040" y="5449680"/>
            <a:ext cx="2639880" cy="749520"/>
          </a:xfrm>
          <a:prstGeom prst="roundRect">
            <a:avLst>
              <a:gd name="adj" fmla="val 9756"/>
            </a:avLst>
          </a:prstGeom>
          <a:solidFill>
            <a:srgbClr val="f4f7fa"/>
          </a:solidFill>
          <a:ln w="12700">
            <a:solidFill>
              <a:srgbClr val="d6dfe9"/>
            </a:solidFill>
            <a:round/>
          </a:ln>
          <a:effectLst>
            <a:outerShdw algn="bl" blurRad="101520" dir="16200000" dist="50760" kx="0" ky="0" rotWithShape="0" sx="100000" sy="100000">
              <a:srgbClr val="000000">
                <a:alpha val="7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Text 59"/>
          <p:cNvSpPr/>
          <p:nvPr/>
        </p:nvSpPr>
        <p:spPr>
          <a:xfrm>
            <a:off x="3472560" y="5541120"/>
            <a:ext cx="23472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a03a10"/>
                </a:solidFill>
                <a:latin typeface="Calibri"/>
                <a:ea typeface="Calibri"/>
              </a:rPr>
              <a:t>Vendor lock-in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Text 60"/>
          <p:cNvSpPr/>
          <p:nvPr/>
        </p:nvSpPr>
        <p:spPr>
          <a:xfrm>
            <a:off x="3472560" y="5815440"/>
            <a:ext cx="2347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b2545"/>
                </a:solidFill>
                <a:latin typeface="Calibri"/>
                <a:ea typeface="Calibri"/>
              </a:rPr>
              <a:t>Adapter / abstraction layer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Shape 61"/>
          <p:cNvSpPr/>
          <p:nvPr/>
        </p:nvSpPr>
        <p:spPr>
          <a:xfrm>
            <a:off x="6195240" y="5449680"/>
            <a:ext cx="2639880" cy="749520"/>
          </a:xfrm>
          <a:prstGeom prst="roundRect">
            <a:avLst>
              <a:gd name="adj" fmla="val 9756"/>
            </a:avLst>
          </a:prstGeom>
          <a:solidFill>
            <a:srgbClr val="f4f7fa"/>
          </a:solidFill>
          <a:ln w="12700">
            <a:solidFill>
              <a:srgbClr val="d6dfe9"/>
            </a:solidFill>
            <a:round/>
          </a:ln>
          <a:effectLst>
            <a:outerShdw algn="bl" blurRad="101520" dir="16200000" dist="50760" kx="0" ky="0" rotWithShape="0" sx="100000" sy="100000">
              <a:srgbClr val="000000">
                <a:alpha val="7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Text 62"/>
          <p:cNvSpPr/>
          <p:nvPr/>
        </p:nvSpPr>
        <p:spPr>
          <a:xfrm>
            <a:off x="6341400" y="5541120"/>
            <a:ext cx="23472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a03a10"/>
                </a:solidFill>
                <a:latin typeface="Calibri"/>
                <a:ea typeface="Calibri"/>
              </a:rPr>
              <a:t>AI false positives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Text 63"/>
          <p:cNvSpPr/>
          <p:nvPr/>
        </p:nvSpPr>
        <p:spPr>
          <a:xfrm>
            <a:off x="6341400" y="5815440"/>
            <a:ext cx="2347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b2545"/>
                </a:solidFill>
                <a:latin typeface="Calibri"/>
                <a:ea typeface="Calibri"/>
              </a:rPr>
              <a:t>Confidence score + human review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Shape 64"/>
          <p:cNvSpPr/>
          <p:nvPr/>
        </p:nvSpPr>
        <p:spPr>
          <a:xfrm>
            <a:off x="9064080" y="5449680"/>
            <a:ext cx="2639880" cy="749520"/>
          </a:xfrm>
          <a:prstGeom prst="roundRect">
            <a:avLst>
              <a:gd name="adj" fmla="val 9756"/>
            </a:avLst>
          </a:prstGeom>
          <a:solidFill>
            <a:srgbClr val="f4f7fa"/>
          </a:solidFill>
          <a:ln w="12700">
            <a:solidFill>
              <a:srgbClr val="d6dfe9"/>
            </a:solidFill>
            <a:round/>
          </a:ln>
          <a:effectLst>
            <a:outerShdw algn="bl" blurRad="101520" dir="16200000" dist="50760" kx="0" ky="0" rotWithShape="0" sx="100000" sy="100000">
              <a:srgbClr val="000000">
                <a:alpha val="7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Text 65"/>
          <p:cNvSpPr/>
          <p:nvPr/>
        </p:nvSpPr>
        <p:spPr>
          <a:xfrm>
            <a:off x="9210240" y="5541120"/>
            <a:ext cx="23472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a03a10"/>
                </a:solidFill>
                <a:latin typeface="Calibri"/>
                <a:ea typeface="Calibri"/>
              </a:rPr>
              <a:t>System failure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Text 66"/>
          <p:cNvSpPr/>
          <p:nvPr/>
        </p:nvSpPr>
        <p:spPr>
          <a:xfrm>
            <a:off x="9210240" y="5815440"/>
            <a:ext cx="2347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b2545"/>
                </a:solidFill>
                <a:latin typeface="Calibri"/>
                <a:ea typeface="Calibri"/>
              </a:rPr>
              <a:t>HA / DR architecture (Designed)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Text 0"/>
          <p:cNvSpPr/>
          <p:nvPr/>
        </p:nvSpPr>
        <p:spPr>
          <a:xfrm>
            <a:off x="457200" y="292680"/>
            <a:ext cx="112467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38" strike="noStrike">
                <a:solidFill>
                  <a:srgbClr val="0b2545"/>
                </a:solidFill>
                <a:latin typeface="Arial"/>
                <a:ea typeface="Arial"/>
              </a:rPr>
              <a:t>IMPACT &amp; BENEFITS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Text 1"/>
          <p:cNvSpPr/>
          <p:nvPr/>
        </p:nvSpPr>
        <p:spPr>
          <a:xfrm>
            <a:off x="457200" y="768240"/>
            <a:ext cx="11246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b6b7b"/>
                </a:solidFill>
                <a:latin typeface="Calibri"/>
                <a:ea typeface="Calibri"/>
              </a:rPr>
              <a:t>From monitoring cameras to understanding events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Shape 2"/>
          <p:cNvSpPr/>
          <p:nvPr/>
        </p:nvSpPr>
        <p:spPr>
          <a:xfrm>
            <a:off x="4892040" y="1581840"/>
            <a:ext cx="274320" cy="498240"/>
          </a:xfrm>
          <a:prstGeom prst="line">
            <a:avLst/>
          </a:prstGeom>
          <a:ln w="15875">
            <a:solidFill>
              <a:srgbClr val="c3cf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Shape 3"/>
          <p:cNvSpPr/>
          <p:nvPr/>
        </p:nvSpPr>
        <p:spPr>
          <a:xfrm flipV="1">
            <a:off x="4892040" y="2080080"/>
            <a:ext cx="274320" cy="580680"/>
          </a:xfrm>
          <a:prstGeom prst="line">
            <a:avLst/>
          </a:prstGeom>
          <a:ln w="15875">
            <a:solidFill>
              <a:srgbClr val="c3cf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Shape 4"/>
          <p:cNvSpPr/>
          <p:nvPr/>
        </p:nvSpPr>
        <p:spPr>
          <a:xfrm flipV="1">
            <a:off x="6949440" y="1581840"/>
            <a:ext cx="320040" cy="498240"/>
          </a:xfrm>
          <a:prstGeom prst="line">
            <a:avLst/>
          </a:prstGeom>
          <a:ln w="15875">
            <a:solidFill>
              <a:srgbClr val="c3cf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Shape 5"/>
          <p:cNvSpPr/>
          <p:nvPr/>
        </p:nvSpPr>
        <p:spPr>
          <a:xfrm>
            <a:off x="6949440" y="2080080"/>
            <a:ext cx="320040" cy="580680"/>
          </a:xfrm>
          <a:prstGeom prst="line">
            <a:avLst/>
          </a:prstGeom>
          <a:ln w="15875">
            <a:solidFill>
              <a:srgbClr val="c3cf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Shape 6"/>
          <p:cNvSpPr/>
          <p:nvPr/>
        </p:nvSpPr>
        <p:spPr>
          <a:xfrm>
            <a:off x="6057720" y="2971800"/>
            <a:ext cx="360" cy="246600"/>
          </a:xfrm>
          <a:prstGeom prst="line">
            <a:avLst/>
          </a:prstGeom>
          <a:ln w="15875">
            <a:solidFill>
              <a:srgbClr val="c3cf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Shape 7"/>
          <p:cNvSpPr/>
          <p:nvPr/>
        </p:nvSpPr>
        <p:spPr>
          <a:xfrm>
            <a:off x="5166360" y="1188720"/>
            <a:ext cx="1782720" cy="178272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round/>
          </a:ln>
          <a:effectLst>
            <a:outerShdw algn="bl" blurRad="152280" dir="5400000" dist="25560" kx="0" ky="0" rotWithShape="0" sx="100000" sy="100000">
              <a:srgbClr val="9fb0c2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13" name="Image 0" descr="preencoded.png"/>
          <p:cNvPicPr/>
          <p:nvPr/>
        </p:nvPicPr>
        <p:blipFill>
          <a:blip r:embed="rId1"/>
          <a:stretch/>
        </p:blipFill>
        <p:spPr>
          <a:xfrm>
            <a:off x="5856840" y="1572840"/>
            <a:ext cx="402120" cy="402120"/>
          </a:xfrm>
          <a:prstGeom prst="rect">
            <a:avLst/>
          </a:prstGeom>
          <a:ln w="0">
            <a:noFill/>
          </a:ln>
        </p:spPr>
      </p:pic>
      <p:sp>
        <p:nvSpPr>
          <p:cNvPr id="314" name="Text 8"/>
          <p:cNvSpPr/>
          <p:nvPr/>
        </p:nvSpPr>
        <p:spPr>
          <a:xfrm>
            <a:off x="5166360" y="2048400"/>
            <a:ext cx="1782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117" strike="noStrike">
                <a:solidFill>
                  <a:srgbClr val="ffffff"/>
                </a:solidFill>
                <a:latin typeface="Arial"/>
                <a:ea typeface="Arial"/>
              </a:rPr>
              <a:t>SENTINEL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Text 9"/>
          <p:cNvSpPr/>
          <p:nvPr/>
        </p:nvSpPr>
        <p:spPr>
          <a:xfrm>
            <a:off x="5303520" y="2322720"/>
            <a:ext cx="15084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bfd2e8"/>
                </a:solidFill>
                <a:latin typeface="Calibri"/>
                <a:ea typeface="Calibri"/>
              </a:rPr>
              <a:t>One intelligence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bfd2e8"/>
                </a:solidFill>
                <a:latin typeface="Calibri"/>
                <a:ea typeface="Calibri"/>
              </a:rPr>
              <a:t>layer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Shape 10"/>
          <p:cNvSpPr/>
          <p:nvPr/>
        </p:nvSpPr>
        <p:spPr>
          <a:xfrm>
            <a:off x="457200" y="1134000"/>
            <a:ext cx="4434480" cy="895680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6dfe9"/>
            </a:solidFill>
            <a:round/>
          </a:ln>
          <a:effectLst>
            <a:outerShdw algn="bl" blurRad="101520" dir="5400000" dist="12600" kx="0" ky="0" rotWithShape="0" sx="100000" sy="100000">
              <a:srgbClr val="9fb0c2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Shape 11"/>
          <p:cNvSpPr/>
          <p:nvPr/>
        </p:nvSpPr>
        <p:spPr>
          <a:xfrm>
            <a:off x="640080" y="1380600"/>
            <a:ext cx="402120" cy="402120"/>
          </a:xfrm>
          <a:prstGeom prst="ellipse">
            <a:avLst/>
          </a:prstGeom>
          <a:solidFill>
            <a:srgbClr val="eaf0f7"/>
          </a:solidFill>
          <a:ln w="12700">
            <a:solidFill>
              <a:srgbClr val="eaf0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8" name="Image 1" descr="preencoded.png"/>
          <p:cNvPicPr/>
          <p:nvPr/>
        </p:nvPicPr>
        <p:blipFill>
          <a:blip r:embed="rId2"/>
          <a:stretch/>
        </p:blipFill>
        <p:spPr>
          <a:xfrm>
            <a:off x="700560" y="1441080"/>
            <a:ext cx="281160" cy="281160"/>
          </a:xfrm>
          <a:prstGeom prst="rect">
            <a:avLst/>
          </a:prstGeom>
          <a:ln w="0">
            <a:noFill/>
          </a:ln>
        </p:spPr>
      </p:pic>
      <p:sp>
        <p:nvSpPr>
          <p:cNvPr id="319" name="Text 12"/>
          <p:cNvSpPr/>
          <p:nvPr/>
        </p:nvSpPr>
        <p:spPr>
          <a:xfrm>
            <a:off x="1152000" y="1261800"/>
            <a:ext cx="3574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0b2545"/>
                </a:solidFill>
                <a:latin typeface="Arial"/>
                <a:ea typeface="Arial"/>
              </a:rPr>
              <a:t>FASTER RESPONSE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Text 13"/>
          <p:cNvSpPr/>
          <p:nvPr/>
        </p:nvSpPr>
        <p:spPr>
          <a:xfrm>
            <a:off x="1152000" y="1536120"/>
            <a:ext cx="35748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5b6b7b"/>
                </a:solidFill>
                <a:latin typeface="Calibri"/>
                <a:ea typeface="Calibri"/>
              </a:rPr>
              <a:t>Minutes, not manual searching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Shape 14"/>
          <p:cNvSpPr/>
          <p:nvPr/>
        </p:nvSpPr>
        <p:spPr>
          <a:xfrm>
            <a:off x="457200" y="2212920"/>
            <a:ext cx="4434480" cy="895680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6dfe9"/>
            </a:solidFill>
            <a:round/>
          </a:ln>
          <a:effectLst>
            <a:outerShdw algn="bl" blurRad="101520" dir="5400000" dist="12600" kx="0" ky="0" rotWithShape="0" sx="100000" sy="100000">
              <a:srgbClr val="9fb0c2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Shape 15"/>
          <p:cNvSpPr/>
          <p:nvPr/>
        </p:nvSpPr>
        <p:spPr>
          <a:xfrm>
            <a:off x="640080" y="2459880"/>
            <a:ext cx="402120" cy="402120"/>
          </a:xfrm>
          <a:prstGeom prst="ellipse">
            <a:avLst/>
          </a:prstGeom>
          <a:solidFill>
            <a:srgbClr val="eaf0f7"/>
          </a:solidFill>
          <a:ln w="12700">
            <a:solidFill>
              <a:srgbClr val="eaf0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23" name="Image 2" descr="preencoded.png"/>
          <p:cNvPicPr/>
          <p:nvPr/>
        </p:nvPicPr>
        <p:blipFill>
          <a:blip r:embed="rId3"/>
          <a:stretch/>
        </p:blipFill>
        <p:spPr>
          <a:xfrm>
            <a:off x="700560" y="2520000"/>
            <a:ext cx="281160" cy="281160"/>
          </a:xfrm>
          <a:prstGeom prst="rect">
            <a:avLst/>
          </a:prstGeom>
          <a:ln w="0">
            <a:noFill/>
          </a:ln>
        </p:spPr>
      </p:pic>
      <p:sp>
        <p:nvSpPr>
          <p:cNvPr id="324" name="Text 16"/>
          <p:cNvSpPr/>
          <p:nvPr/>
        </p:nvSpPr>
        <p:spPr>
          <a:xfrm>
            <a:off x="1152000" y="2340720"/>
            <a:ext cx="3574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0b2545"/>
                </a:solidFill>
                <a:latin typeface="Arial"/>
                <a:ea typeface="Arial"/>
              </a:rPr>
              <a:t>SMARTER INVESTIGATION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Text 17"/>
          <p:cNvSpPr/>
          <p:nvPr/>
        </p:nvSpPr>
        <p:spPr>
          <a:xfrm>
            <a:off x="1152000" y="2615040"/>
            <a:ext cx="35748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5b6b7b"/>
                </a:solidFill>
                <a:latin typeface="Calibri"/>
                <a:ea typeface="Calibri"/>
              </a:rPr>
              <a:t>Vehicle → Camera → Event → Evidence → Case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Shape 18"/>
          <p:cNvSpPr/>
          <p:nvPr/>
        </p:nvSpPr>
        <p:spPr>
          <a:xfrm>
            <a:off x="7269480" y="1134000"/>
            <a:ext cx="4434480" cy="895680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6dfe9"/>
            </a:solidFill>
            <a:round/>
          </a:ln>
          <a:effectLst>
            <a:outerShdw algn="bl" blurRad="101520" dir="5400000" dist="12600" kx="0" ky="0" rotWithShape="0" sx="100000" sy="100000">
              <a:srgbClr val="9fb0c2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Shape 19"/>
          <p:cNvSpPr/>
          <p:nvPr/>
        </p:nvSpPr>
        <p:spPr>
          <a:xfrm>
            <a:off x="7452360" y="1380600"/>
            <a:ext cx="402120" cy="402120"/>
          </a:xfrm>
          <a:prstGeom prst="ellipse">
            <a:avLst/>
          </a:prstGeom>
          <a:solidFill>
            <a:srgbClr val="eaf0f7"/>
          </a:solidFill>
          <a:ln w="12700">
            <a:solidFill>
              <a:srgbClr val="eaf0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28" name="Image 3" descr="preencoded.png"/>
          <p:cNvPicPr/>
          <p:nvPr/>
        </p:nvPicPr>
        <p:blipFill>
          <a:blip r:embed="rId4"/>
          <a:stretch/>
        </p:blipFill>
        <p:spPr>
          <a:xfrm>
            <a:off x="7512840" y="1441080"/>
            <a:ext cx="281160" cy="281160"/>
          </a:xfrm>
          <a:prstGeom prst="rect">
            <a:avLst/>
          </a:prstGeom>
          <a:ln w="0">
            <a:noFill/>
          </a:ln>
        </p:spPr>
      </p:pic>
      <p:sp>
        <p:nvSpPr>
          <p:cNvPr id="329" name="Text 20"/>
          <p:cNvSpPr/>
          <p:nvPr/>
        </p:nvSpPr>
        <p:spPr>
          <a:xfrm>
            <a:off x="7964280" y="1261800"/>
            <a:ext cx="3574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0b2545"/>
                </a:solidFill>
                <a:latin typeface="Arial"/>
                <a:ea typeface="Arial"/>
              </a:rPr>
              <a:t>STATEWIDE VISIBILITY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Text 21"/>
          <p:cNvSpPr/>
          <p:nvPr/>
        </p:nvSpPr>
        <p:spPr>
          <a:xfrm>
            <a:off x="7964280" y="1536120"/>
            <a:ext cx="35748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5b6b7b"/>
                </a:solidFill>
                <a:latin typeface="Calibri"/>
                <a:ea typeface="Calibri"/>
              </a:rPr>
              <a:t>Unified view across 26+ departments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Shape 22"/>
          <p:cNvSpPr/>
          <p:nvPr/>
        </p:nvSpPr>
        <p:spPr>
          <a:xfrm>
            <a:off x="7269480" y="2212920"/>
            <a:ext cx="4434480" cy="895680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6dfe9"/>
            </a:solidFill>
            <a:round/>
          </a:ln>
          <a:effectLst>
            <a:outerShdw algn="bl" blurRad="101520" dir="5400000" dist="12600" kx="0" ky="0" rotWithShape="0" sx="100000" sy="100000">
              <a:srgbClr val="9fb0c2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Shape 23"/>
          <p:cNvSpPr/>
          <p:nvPr/>
        </p:nvSpPr>
        <p:spPr>
          <a:xfrm>
            <a:off x="7452360" y="2459880"/>
            <a:ext cx="402120" cy="402120"/>
          </a:xfrm>
          <a:prstGeom prst="ellipse">
            <a:avLst/>
          </a:prstGeom>
          <a:solidFill>
            <a:srgbClr val="eaf0f7"/>
          </a:solidFill>
          <a:ln w="12700">
            <a:solidFill>
              <a:srgbClr val="eaf0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33" name="Image 4" descr="preencoded.png"/>
          <p:cNvPicPr/>
          <p:nvPr/>
        </p:nvPicPr>
        <p:blipFill>
          <a:blip r:embed="rId5"/>
          <a:stretch/>
        </p:blipFill>
        <p:spPr>
          <a:xfrm>
            <a:off x="7512840" y="2520000"/>
            <a:ext cx="281160" cy="281160"/>
          </a:xfrm>
          <a:prstGeom prst="rect">
            <a:avLst/>
          </a:prstGeom>
          <a:ln w="0">
            <a:noFill/>
          </a:ln>
        </p:spPr>
      </p:pic>
      <p:sp>
        <p:nvSpPr>
          <p:cNvPr id="334" name="Text 24"/>
          <p:cNvSpPr/>
          <p:nvPr/>
        </p:nvSpPr>
        <p:spPr>
          <a:xfrm>
            <a:off x="7964280" y="2340720"/>
            <a:ext cx="3574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0b2545"/>
                </a:solidFill>
                <a:latin typeface="Arial"/>
                <a:ea typeface="Arial"/>
              </a:rPr>
              <a:t>LOWER OPERATIONAL LOAD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Text 25"/>
          <p:cNvSpPr/>
          <p:nvPr/>
        </p:nvSpPr>
        <p:spPr>
          <a:xfrm>
            <a:off x="7964280" y="2615040"/>
            <a:ext cx="35748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5b6b7b"/>
                </a:solidFill>
                <a:latin typeface="Calibri"/>
                <a:ea typeface="Calibri"/>
              </a:rPr>
              <a:t>Automates repetitive monitoring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Shape 26"/>
          <p:cNvSpPr/>
          <p:nvPr/>
        </p:nvSpPr>
        <p:spPr>
          <a:xfrm>
            <a:off x="4160520" y="3218760"/>
            <a:ext cx="3840120" cy="78588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6dfe9"/>
            </a:solidFill>
            <a:round/>
          </a:ln>
          <a:effectLst>
            <a:outerShdw algn="bl" blurRad="101520" dir="5400000" dist="12600" kx="0" ky="0" rotWithShape="0" sx="100000" sy="100000">
              <a:srgbClr val="9fb0c2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Shape 27"/>
          <p:cNvSpPr/>
          <p:nvPr/>
        </p:nvSpPr>
        <p:spPr>
          <a:xfrm>
            <a:off x="4343400" y="3410640"/>
            <a:ext cx="402120" cy="402120"/>
          </a:xfrm>
          <a:prstGeom prst="ellipse">
            <a:avLst/>
          </a:prstGeom>
          <a:solidFill>
            <a:srgbClr val="eaf0f7"/>
          </a:solidFill>
          <a:ln w="12700">
            <a:solidFill>
              <a:srgbClr val="eaf0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38" name="Image 5" descr="preencoded.png"/>
          <p:cNvPicPr/>
          <p:nvPr/>
        </p:nvPicPr>
        <p:blipFill>
          <a:blip r:embed="rId6"/>
          <a:stretch/>
        </p:blipFill>
        <p:spPr>
          <a:xfrm>
            <a:off x="4403880" y="3471120"/>
            <a:ext cx="281160" cy="281160"/>
          </a:xfrm>
          <a:prstGeom prst="rect">
            <a:avLst/>
          </a:prstGeom>
          <a:ln w="0">
            <a:noFill/>
          </a:ln>
        </p:spPr>
      </p:pic>
      <p:sp>
        <p:nvSpPr>
          <p:cNvPr id="339" name="Text 28"/>
          <p:cNvSpPr/>
          <p:nvPr/>
        </p:nvSpPr>
        <p:spPr>
          <a:xfrm>
            <a:off x="4855320" y="3346560"/>
            <a:ext cx="2980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0b2545"/>
                </a:solidFill>
                <a:latin typeface="Arial"/>
                <a:ea typeface="Arial"/>
              </a:rPr>
              <a:t>AUDITABLE &amp; SECURE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Text 29"/>
          <p:cNvSpPr/>
          <p:nvPr/>
        </p:nvSpPr>
        <p:spPr>
          <a:xfrm>
            <a:off x="4855320" y="3620880"/>
            <a:ext cx="2980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5b6b7b"/>
                </a:solidFill>
                <a:latin typeface="Calibri"/>
                <a:ea typeface="Calibri"/>
              </a:rPr>
              <a:t>RBAC + audit trail + controlled evidence access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Shape 30"/>
          <p:cNvSpPr/>
          <p:nvPr/>
        </p:nvSpPr>
        <p:spPr>
          <a:xfrm>
            <a:off x="457200" y="4224600"/>
            <a:ext cx="5303160" cy="1572480"/>
          </a:xfrm>
          <a:prstGeom prst="roundRect">
            <a:avLst>
              <a:gd name="adj" fmla="val 4651"/>
            </a:avLst>
          </a:prstGeom>
          <a:solidFill>
            <a:srgbClr val="f4f7fa"/>
          </a:solidFill>
          <a:ln w="12700">
            <a:solidFill>
              <a:srgbClr val="d6dfe9"/>
            </a:solidFill>
            <a:round/>
          </a:ln>
          <a:effectLst>
            <a:outerShdw algn="bl" blurRad="101520" dir="16200000" dist="50760" kx="0" ky="0" rotWithShape="0" sx="100000" sy="100000">
              <a:srgbClr val="000000">
                <a:alpha val="7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Text 31"/>
          <p:cNvSpPr/>
          <p:nvPr/>
        </p:nvSpPr>
        <p:spPr>
          <a:xfrm>
            <a:off x="640080" y="4334400"/>
            <a:ext cx="22856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17" strike="noStrike">
                <a:solidFill>
                  <a:srgbClr val="7a8794"/>
                </a:solidFill>
                <a:latin typeface="Arial"/>
                <a:ea typeface="Arial"/>
              </a:rPr>
              <a:t>BEFORE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Shape 32"/>
          <p:cNvSpPr/>
          <p:nvPr/>
        </p:nvSpPr>
        <p:spPr>
          <a:xfrm>
            <a:off x="640080" y="4681800"/>
            <a:ext cx="1096920" cy="96876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d6dfe9"/>
            </a:solidFill>
            <a:round/>
          </a:ln>
          <a:effectLst>
            <a:outerShdw algn="bl" blurRad="101520" dir="16200000" dist="50760" kx="0" ky="0" rotWithShape="0" sx="100000" sy="100000">
              <a:srgbClr val="000000">
                <a:alpha val="7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Text 33"/>
          <p:cNvSpPr/>
          <p:nvPr/>
        </p:nvSpPr>
        <p:spPr>
          <a:xfrm>
            <a:off x="694800" y="4681800"/>
            <a:ext cx="987120" cy="96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5b6b7b"/>
                </a:solidFill>
                <a:latin typeface="Calibri"/>
                <a:ea typeface="Calibri"/>
              </a:rPr>
              <a:t>80,000 cameras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Shape 34"/>
          <p:cNvSpPr/>
          <p:nvPr/>
        </p:nvSpPr>
        <p:spPr>
          <a:xfrm>
            <a:off x="1764720" y="5166360"/>
            <a:ext cx="127800" cy="360"/>
          </a:xfrm>
          <a:prstGeom prst="line">
            <a:avLst/>
          </a:prstGeom>
          <a:ln w="22225">
            <a:solidFill>
              <a:srgbClr val="a9b6c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Shape 35"/>
          <p:cNvSpPr/>
          <p:nvPr/>
        </p:nvSpPr>
        <p:spPr>
          <a:xfrm>
            <a:off x="1920240" y="4681800"/>
            <a:ext cx="1096920" cy="96876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d6dfe9"/>
            </a:solidFill>
            <a:round/>
          </a:ln>
          <a:effectLst>
            <a:outerShdw algn="bl" blurRad="101520" dir="16200000" dist="50760" kx="0" ky="0" rotWithShape="0" sx="100000" sy="100000">
              <a:srgbClr val="000000">
                <a:alpha val="7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Text 36"/>
          <p:cNvSpPr/>
          <p:nvPr/>
        </p:nvSpPr>
        <p:spPr>
          <a:xfrm>
            <a:off x="1974960" y="4681800"/>
            <a:ext cx="987120" cy="96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5b6b7b"/>
                </a:solidFill>
                <a:latin typeface="Calibri"/>
                <a:ea typeface="Calibri"/>
              </a:rPr>
              <a:t>Fragmented systems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Shape 37"/>
          <p:cNvSpPr/>
          <p:nvPr/>
        </p:nvSpPr>
        <p:spPr>
          <a:xfrm>
            <a:off x="3044880" y="5166360"/>
            <a:ext cx="127800" cy="360"/>
          </a:xfrm>
          <a:prstGeom prst="line">
            <a:avLst/>
          </a:prstGeom>
          <a:ln w="22225">
            <a:solidFill>
              <a:srgbClr val="a9b6c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Shape 38"/>
          <p:cNvSpPr/>
          <p:nvPr/>
        </p:nvSpPr>
        <p:spPr>
          <a:xfrm>
            <a:off x="3200400" y="4681800"/>
            <a:ext cx="1096920" cy="96876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d6dfe9"/>
            </a:solidFill>
            <a:round/>
          </a:ln>
          <a:effectLst>
            <a:outerShdw algn="bl" blurRad="101520" dir="16200000" dist="50760" kx="0" ky="0" rotWithShape="0" sx="100000" sy="100000">
              <a:srgbClr val="000000">
                <a:alpha val="7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Text 39"/>
          <p:cNvSpPr/>
          <p:nvPr/>
        </p:nvSpPr>
        <p:spPr>
          <a:xfrm>
            <a:off x="3255120" y="4681800"/>
            <a:ext cx="987120" cy="96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5b6b7b"/>
                </a:solidFill>
                <a:latin typeface="Calibri"/>
                <a:ea typeface="Calibri"/>
              </a:rPr>
              <a:t>Manual investigation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Shape 40"/>
          <p:cNvSpPr/>
          <p:nvPr/>
        </p:nvSpPr>
        <p:spPr>
          <a:xfrm>
            <a:off x="4325040" y="5166360"/>
            <a:ext cx="127800" cy="360"/>
          </a:xfrm>
          <a:prstGeom prst="line">
            <a:avLst/>
          </a:prstGeom>
          <a:ln w="22225">
            <a:solidFill>
              <a:srgbClr val="a9b6c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Shape 41"/>
          <p:cNvSpPr/>
          <p:nvPr/>
        </p:nvSpPr>
        <p:spPr>
          <a:xfrm>
            <a:off x="4480560" y="4681800"/>
            <a:ext cx="1096920" cy="96876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d6dfe9"/>
            </a:solidFill>
            <a:round/>
          </a:ln>
          <a:effectLst>
            <a:outerShdw algn="bl" blurRad="101520" dir="16200000" dist="50760" kx="0" ky="0" rotWithShape="0" sx="100000" sy="100000">
              <a:srgbClr val="000000">
                <a:alpha val="7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Text 42"/>
          <p:cNvSpPr/>
          <p:nvPr/>
        </p:nvSpPr>
        <p:spPr>
          <a:xfrm>
            <a:off x="4535280" y="4681800"/>
            <a:ext cx="987120" cy="96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5b6b7b"/>
                </a:solidFill>
                <a:latin typeface="Calibri"/>
                <a:ea typeface="Calibri"/>
              </a:rPr>
              <a:t>Delayed response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Shape 43"/>
          <p:cNvSpPr/>
          <p:nvPr/>
        </p:nvSpPr>
        <p:spPr>
          <a:xfrm>
            <a:off x="6400800" y="4224600"/>
            <a:ext cx="5303160" cy="1572480"/>
          </a:xfrm>
          <a:prstGeom prst="roundRect">
            <a:avLst>
              <a:gd name="adj" fmla="val 4651"/>
            </a:avLst>
          </a:prstGeom>
          <a:solidFill>
            <a:srgbClr val="eaf0f7"/>
          </a:solidFill>
          <a:ln w="12700">
            <a:solidFill>
              <a:srgbClr val="1d4e89"/>
            </a:solidFill>
            <a:round/>
          </a:ln>
          <a:effectLst>
            <a:outerShdw algn="bl" blurRad="101520" dir="16200000" dist="50760" kx="0" ky="0" rotWithShape="0" sx="100000" sy="100000">
              <a:srgbClr val="000000">
                <a:alpha val="7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Text 44"/>
          <p:cNvSpPr/>
          <p:nvPr/>
        </p:nvSpPr>
        <p:spPr>
          <a:xfrm>
            <a:off x="6583680" y="4334400"/>
            <a:ext cx="22856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17" strike="noStrike">
                <a:solidFill>
                  <a:srgbClr val="0b2545"/>
                </a:solidFill>
                <a:latin typeface="Arial"/>
                <a:ea typeface="Arial"/>
              </a:rPr>
              <a:t>AFTER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Shape 45"/>
          <p:cNvSpPr/>
          <p:nvPr/>
        </p:nvSpPr>
        <p:spPr>
          <a:xfrm>
            <a:off x="6583680" y="4681800"/>
            <a:ext cx="1096920" cy="968760"/>
          </a:xfrm>
          <a:prstGeom prst="roundRect">
            <a:avLst>
              <a:gd name="adj" fmla="val 5660"/>
            </a:avLst>
          </a:prstGeom>
          <a:solidFill>
            <a:srgbClr val="0b2545"/>
          </a:solidFill>
          <a:ln w="12700">
            <a:solidFill>
              <a:srgbClr val="0b2545"/>
            </a:solidFill>
            <a:round/>
          </a:ln>
          <a:effectLst>
            <a:outerShdw algn="bl" blurRad="101520" dir="16200000" dist="50760" kx="0" ky="0" rotWithShape="0" sx="100000" sy="100000">
              <a:srgbClr val="000000">
                <a:alpha val="7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7" name="Text 46"/>
          <p:cNvSpPr/>
          <p:nvPr/>
        </p:nvSpPr>
        <p:spPr>
          <a:xfrm>
            <a:off x="6638400" y="4681800"/>
            <a:ext cx="987120" cy="96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80,000 cameras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Shape 47"/>
          <p:cNvSpPr/>
          <p:nvPr/>
        </p:nvSpPr>
        <p:spPr>
          <a:xfrm>
            <a:off x="7708320" y="5166360"/>
            <a:ext cx="127800" cy="360"/>
          </a:xfrm>
          <a:prstGeom prst="line">
            <a:avLst/>
          </a:prstGeom>
          <a:ln w="22225">
            <a:solidFill>
              <a:srgbClr val="c2600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Shape 48"/>
          <p:cNvSpPr/>
          <p:nvPr/>
        </p:nvSpPr>
        <p:spPr>
          <a:xfrm>
            <a:off x="7863840" y="4681800"/>
            <a:ext cx="1096920" cy="968760"/>
          </a:xfrm>
          <a:prstGeom prst="roundRect">
            <a:avLst>
              <a:gd name="adj" fmla="val 5660"/>
            </a:avLst>
          </a:prstGeom>
          <a:solidFill>
            <a:srgbClr val="0b2545"/>
          </a:solidFill>
          <a:ln w="12700">
            <a:solidFill>
              <a:srgbClr val="0b2545"/>
            </a:solidFill>
            <a:round/>
          </a:ln>
          <a:effectLst>
            <a:outerShdw algn="bl" blurRad="101520" dir="16200000" dist="50760" kx="0" ky="0" rotWithShape="0" sx="100000" sy="100000">
              <a:srgbClr val="000000">
                <a:alpha val="7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0" name="Text 49"/>
          <p:cNvSpPr/>
          <p:nvPr/>
        </p:nvSpPr>
        <p:spPr>
          <a:xfrm>
            <a:off x="7918560" y="4681800"/>
            <a:ext cx="987120" cy="96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Unified intelligence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Shape 50"/>
          <p:cNvSpPr/>
          <p:nvPr/>
        </p:nvSpPr>
        <p:spPr>
          <a:xfrm>
            <a:off x="8988480" y="5166360"/>
            <a:ext cx="127800" cy="360"/>
          </a:xfrm>
          <a:prstGeom prst="line">
            <a:avLst/>
          </a:prstGeom>
          <a:ln w="22225">
            <a:solidFill>
              <a:srgbClr val="c2600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Shape 51"/>
          <p:cNvSpPr/>
          <p:nvPr/>
        </p:nvSpPr>
        <p:spPr>
          <a:xfrm>
            <a:off x="9144000" y="4681800"/>
            <a:ext cx="1096920" cy="968760"/>
          </a:xfrm>
          <a:prstGeom prst="roundRect">
            <a:avLst>
              <a:gd name="adj" fmla="val 5660"/>
            </a:avLst>
          </a:prstGeom>
          <a:solidFill>
            <a:srgbClr val="0b2545"/>
          </a:solidFill>
          <a:ln w="12700">
            <a:solidFill>
              <a:srgbClr val="0b2545"/>
            </a:solidFill>
            <a:round/>
          </a:ln>
          <a:effectLst>
            <a:outerShdw algn="bl" blurRad="101520" dir="16200000" dist="50760" kx="0" ky="0" rotWithShape="0" sx="100000" sy="100000">
              <a:srgbClr val="000000">
                <a:alpha val="7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3" name="Text 52"/>
          <p:cNvSpPr/>
          <p:nvPr/>
        </p:nvSpPr>
        <p:spPr>
          <a:xfrm>
            <a:off x="9198720" y="4681800"/>
            <a:ext cx="987120" cy="96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AI-assisted investigation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Shape 53"/>
          <p:cNvSpPr/>
          <p:nvPr/>
        </p:nvSpPr>
        <p:spPr>
          <a:xfrm>
            <a:off x="10268640" y="5166360"/>
            <a:ext cx="127800" cy="360"/>
          </a:xfrm>
          <a:prstGeom prst="line">
            <a:avLst/>
          </a:prstGeom>
          <a:ln w="22225">
            <a:solidFill>
              <a:srgbClr val="c2600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Shape 54"/>
          <p:cNvSpPr/>
          <p:nvPr/>
        </p:nvSpPr>
        <p:spPr>
          <a:xfrm>
            <a:off x="10424160" y="4681800"/>
            <a:ext cx="1096920" cy="968760"/>
          </a:xfrm>
          <a:prstGeom prst="roundRect">
            <a:avLst>
              <a:gd name="adj" fmla="val 5660"/>
            </a:avLst>
          </a:prstGeom>
          <a:solidFill>
            <a:srgbClr val="0b2545"/>
          </a:solidFill>
          <a:ln w="12700">
            <a:solidFill>
              <a:srgbClr val="0b2545"/>
            </a:solidFill>
            <a:round/>
          </a:ln>
          <a:effectLst>
            <a:outerShdw algn="bl" blurRad="101520" dir="16200000" dist="50760" kx="0" ky="0" rotWithShape="0" sx="100000" sy="100000">
              <a:srgbClr val="000000">
                <a:alpha val="7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6" name="Text 55"/>
          <p:cNvSpPr/>
          <p:nvPr/>
        </p:nvSpPr>
        <p:spPr>
          <a:xfrm>
            <a:off x="10478880" y="4681800"/>
            <a:ext cx="987120" cy="96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Faster action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Shape 56"/>
          <p:cNvSpPr/>
          <p:nvPr/>
        </p:nvSpPr>
        <p:spPr>
          <a:xfrm>
            <a:off x="5870160" y="5010840"/>
            <a:ext cx="420840" cy="360"/>
          </a:xfrm>
          <a:prstGeom prst="line">
            <a:avLst/>
          </a:prstGeom>
          <a:ln w="31750">
            <a:solidFill>
              <a:srgbClr val="c2600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Text 57"/>
          <p:cNvSpPr/>
          <p:nvPr/>
        </p:nvSpPr>
        <p:spPr>
          <a:xfrm>
            <a:off x="457200" y="5989320"/>
            <a:ext cx="112467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500" spc="-1" strike="noStrike">
                <a:solidFill>
                  <a:srgbClr val="0b2545"/>
                </a:solidFill>
                <a:latin typeface="Arial"/>
                <a:ea typeface="Arial"/>
              </a:rPr>
              <a:t>“</a:t>
            </a:r>
            <a:r>
              <a:rPr b="1" i="1" lang="en-US" sz="1500" spc="-1" strike="noStrike">
                <a:solidFill>
                  <a:srgbClr val="0b2545"/>
                </a:solidFill>
                <a:latin typeface="Arial"/>
                <a:ea typeface="Arial"/>
              </a:rPr>
              <a:t>From monitoring cameras to understanding events.”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Text 0"/>
          <p:cNvSpPr/>
          <p:nvPr/>
        </p:nvSpPr>
        <p:spPr>
          <a:xfrm>
            <a:off x="457200" y="292680"/>
            <a:ext cx="112467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38" strike="noStrike">
                <a:solidFill>
                  <a:srgbClr val="0b2545"/>
                </a:solidFill>
                <a:latin typeface="Arial"/>
                <a:ea typeface="Arial"/>
              </a:rPr>
              <a:t>RESEARCH &amp; REFERENCES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Text 1"/>
          <p:cNvSpPr/>
          <p:nvPr/>
        </p:nvSpPr>
        <p:spPr>
          <a:xfrm>
            <a:off x="457200" y="768240"/>
            <a:ext cx="11246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b6b7b"/>
                </a:solidFill>
                <a:latin typeface="Calibri"/>
                <a:ea typeface="Calibri"/>
              </a:rPr>
              <a:t>Grounded in open standards, published CV research and proven distributed architecture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Shape 2"/>
          <p:cNvSpPr/>
          <p:nvPr/>
        </p:nvSpPr>
        <p:spPr>
          <a:xfrm>
            <a:off x="457200" y="1170360"/>
            <a:ext cx="3565800" cy="2724480"/>
          </a:xfrm>
          <a:prstGeom prst="roundRect">
            <a:avLst>
              <a:gd name="adj" fmla="val 2685"/>
            </a:avLst>
          </a:prstGeom>
          <a:solidFill>
            <a:srgbClr val="ffffff"/>
          </a:solidFill>
          <a:ln w="12700">
            <a:solidFill>
              <a:srgbClr val="d6dfe9"/>
            </a:solidFill>
            <a:round/>
          </a:ln>
          <a:effectLst>
            <a:outerShdw algn="bl" blurRad="101520" dir="5400000" dist="12600" kx="0" ky="0" rotWithShape="0" sx="100000" sy="100000">
              <a:srgbClr val="9fb0c2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Shape 3"/>
          <p:cNvSpPr/>
          <p:nvPr/>
        </p:nvSpPr>
        <p:spPr>
          <a:xfrm>
            <a:off x="457200" y="1170360"/>
            <a:ext cx="3565800" cy="566640"/>
          </a:xfrm>
          <a:prstGeom prst="roundRect">
            <a:avLst>
              <a:gd name="adj" fmla="val 12903"/>
            </a:avLst>
          </a:prstGeom>
          <a:solidFill>
            <a:srgbClr val="0b2545"/>
          </a:solidFill>
          <a:ln w="12700">
            <a:solidFill>
              <a:srgbClr val="0b25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73" name="Image 0" descr="preencoded.png"/>
          <p:cNvPicPr/>
          <p:nvPr/>
        </p:nvPicPr>
        <p:blipFill>
          <a:blip r:embed="rId1"/>
          <a:stretch/>
        </p:blipFill>
        <p:spPr>
          <a:xfrm>
            <a:off x="658440" y="132588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374" name="Text 4"/>
          <p:cNvSpPr/>
          <p:nvPr/>
        </p:nvSpPr>
        <p:spPr>
          <a:xfrm>
            <a:off x="1005840" y="1170360"/>
            <a:ext cx="28800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97" strike="noStrike">
                <a:solidFill>
                  <a:srgbClr val="ffffff"/>
                </a:solidFill>
                <a:latin typeface="Arial"/>
                <a:ea typeface="Arial"/>
              </a:rPr>
              <a:t>OFFICIAL / DOMAIN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Shape 5"/>
          <p:cNvSpPr/>
          <p:nvPr/>
        </p:nvSpPr>
        <p:spPr>
          <a:xfrm>
            <a:off x="676800" y="2107800"/>
            <a:ext cx="63720" cy="63720"/>
          </a:xfrm>
          <a:prstGeom prst="ellipse">
            <a:avLst/>
          </a:prstGeom>
          <a:solidFill>
            <a:srgbClr val="c2600b"/>
          </a:solidFill>
          <a:ln w="12700">
            <a:solidFill>
              <a:srgbClr val="c260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6" name="Text 6"/>
          <p:cNvSpPr/>
          <p:nvPr/>
        </p:nvSpPr>
        <p:spPr>
          <a:xfrm>
            <a:off x="841320" y="1920240"/>
            <a:ext cx="299880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7222e"/>
                </a:solidFill>
                <a:latin typeface="Calibri"/>
                <a:ea typeface="Calibri"/>
              </a:rPr>
              <a:t>Gujarat Police CCTV / Sentinel ecosystem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Shape 7"/>
          <p:cNvSpPr/>
          <p:nvPr/>
        </p:nvSpPr>
        <p:spPr>
          <a:xfrm>
            <a:off x="676800" y="2592360"/>
            <a:ext cx="63720" cy="63720"/>
          </a:xfrm>
          <a:prstGeom prst="ellipse">
            <a:avLst/>
          </a:prstGeom>
          <a:solidFill>
            <a:srgbClr val="c2600b"/>
          </a:solidFill>
          <a:ln w="12700">
            <a:solidFill>
              <a:srgbClr val="c260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8" name="Text 8"/>
          <p:cNvSpPr/>
          <p:nvPr/>
        </p:nvSpPr>
        <p:spPr>
          <a:xfrm>
            <a:off x="841320" y="2404800"/>
            <a:ext cx="299880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7222e"/>
                </a:solidFill>
                <a:latin typeface="Calibri"/>
                <a:ea typeface="Calibri"/>
              </a:rPr>
              <a:t>SIH 2026 Problem Statement SIH26174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Shape 9"/>
          <p:cNvSpPr/>
          <p:nvPr/>
        </p:nvSpPr>
        <p:spPr>
          <a:xfrm>
            <a:off x="676800" y="3076920"/>
            <a:ext cx="63720" cy="63720"/>
          </a:xfrm>
          <a:prstGeom prst="ellipse">
            <a:avLst/>
          </a:prstGeom>
          <a:solidFill>
            <a:srgbClr val="c2600b"/>
          </a:solidFill>
          <a:ln w="12700">
            <a:solidFill>
              <a:srgbClr val="c260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0" name="Text 10"/>
          <p:cNvSpPr/>
          <p:nvPr/>
        </p:nvSpPr>
        <p:spPr>
          <a:xfrm>
            <a:off x="841320" y="2889360"/>
            <a:ext cx="299880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7222e"/>
                </a:solidFill>
                <a:latin typeface="Calibri"/>
                <a:ea typeface="Calibri"/>
              </a:rPr>
              <a:t>RTSP &amp; ONVIF interoperability standards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Shape 11"/>
          <p:cNvSpPr/>
          <p:nvPr/>
        </p:nvSpPr>
        <p:spPr>
          <a:xfrm>
            <a:off x="676800" y="3561480"/>
            <a:ext cx="63720" cy="63720"/>
          </a:xfrm>
          <a:prstGeom prst="ellipse">
            <a:avLst/>
          </a:prstGeom>
          <a:solidFill>
            <a:srgbClr val="c2600b"/>
          </a:solidFill>
          <a:ln w="12700">
            <a:solidFill>
              <a:srgbClr val="c260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2" name="Text 12"/>
          <p:cNvSpPr/>
          <p:nvPr/>
        </p:nvSpPr>
        <p:spPr>
          <a:xfrm>
            <a:off x="841320" y="3374280"/>
            <a:ext cx="299880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7222e"/>
                </a:solidFill>
                <a:latin typeface="Calibri"/>
                <a:ea typeface="Calibri"/>
              </a:rPr>
              <a:t>PostGIS geospatial architecture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Shape 13"/>
          <p:cNvSpPr/>
          <p:nvPr/>
        </p:nvSpPr>
        <p:spPr>
          <a:xfrm>
            <a:off x="4297680" y="1170360"/>
            <a:ext cx="3565800" cy="2724480"/>
          </a:xfrm>
          <a:prstGeom prst="roundRect">
            <a:avLst>
              <a:gd name="adj" fmla="val 2685"/>
            </a:avLst>
          </a:prstGeom>
          <a:solidFill>
            <a:srgbClr val="ffffff"/>
          </a:solidFill>
          <a:ln w="12700">
            <a:solidFill>
              <a:srgbClr val="d6dfe9"/>
            </a:solidFill>
            <a:round/>
          </a:ln>
          <a:effectLst>
            <a:outerShdw algn="bl" blurRad="101520" dir="5400000" dist="12600" kx="0" ky="0" rotWithShape="0" sx="100000" sy="100000">
              <a:srgbClr val="9fb0c2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Shape 14"/>
          <p:cNvSpPr/>
          <p:nvPr/>
        </p:nvSpPr>
        <p:spPr>
          <a:xfrm>
            <a:off x="4297680" y="1170360"/>
            <a:ext cx="3565800" cy="566640"/>
          </a:xfrm>
          <a:prstGeom prst="roundRect">
            <a:avLst>
              <a:gd name="adj" fmla="val 12903"/>
            </a:avLst>
          </a:prstGeom>
          <a:solidFill>
            <a:srgbClr val="0b2545"/>
          </a:solidFill>
          <a:ln w="12700">
            <a:solidFill>
              <a:srgbClr val="0b25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85" name="Image 1" descr="preencoded.png"/>
          <p:cNvPicPr/>
          <p:nvPr/>
        </p:nvPicPr>
        <p:blipFill>
          <a:blip r:embed="rId2"/>
          <a:stretch/>
        </p:blipFill>
        <p:spPr>
          <a:xfrm>
            <a:off x="4498920" y="132588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386" name="Text 15"/>
          <p:cNvSpPr/>
          <p:nvPr/>
        </p:nvSpPr>
        <p:spPr>
          <a:xfrm>
            <a:off x="4846320" y="1170360"/>
            <a:ext cx="28800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97" strike="noStrike">
                <a:solidFill>
                  <a:srgbClr val="ffffff"/>
                </a:solidFill>
                <a:latin typeface="Arial"/>
                <a:ea typeface="Arial"/>
              </a:rPr>
              <a:t>AI / COMPUTER VISION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Shape 16"/>
          <p:cNvSpPr/>
          <p:nvPr/>
        </p:nvSpPr>
        <p:spPr>
          <a:xfrm>
            <a:off x="4517280" y="2107800"/>
            <a:ext cx="63720" cy="63720"/>
          </a:xfrm>
          <a:prstGeom prst="ellipse">
            <a:avLst/>
          </a:prstGeom>
          <a:solidFill>
            <a:srgbClr val="c2600b"/>
          </a:solidFill>
          <a:ln w="12700">
            <a:solidFill>
              <a:srgbClr val="c260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8" name="Text 17"/>
          <p:cNvSpPr/>
          <p:nvPr/>
        </p:nvSpPr>
        <p:spPr>
          <a:xfrm>
            <a:off x="4681800" y="1920240"/>
            <a:ext cx="299880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7222e"/>
                </a:solidFill>
                <a:latin typeface="Calibri"/>
                <a:ea typeface="Calibri"/>
              </a:rPr>
              <a:t>YOLO real-time object detection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Shape 18"/>
          <p:cNvSpPr/>
          <p:nvPr/>
        </p:nvSpPr>
        <p:spPr>
          <a:xfrm>
            <a:off x="4517280" y="2592360"/>
            <a:ext cx="63720" cy="63720"/>
          </a:xfrm>
          <a:prstGeom prst="ellipse">
            <a:avLst/>
          </a:prstGeom>
          <a:solidFill>
            <a:srgbClr val="c2600b"/>
          </a:solidFill>
          <a:ln w="12700">
            <a:solidFill>
              <a:srgbClr val="c260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0" name="Text 19"/>
          <p:cNvSpPr/>
          <p:nvPr/>
        </p:nvSpPr>
        <p:spPr>
          <a:xfrm>
            <a:off x="4681800" y="2404800"/>
            <a:ext cx="299880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7222e"/>
                </a:solidFill>
                <a:latin typeface="Calibri"/>
                <a:ea typeface="Calibri"/>
              </a:rPr>
              <a:t>ByteTrack multi-object tracking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Shape 20"/>
          <p:cNvSpPr/>
          <p:nvPr/>
        </p:nvSpPr>
        <p:spPr>
          <a:xfrm>
            <a:off x="4517280" y="3076920"/>
            <a:ext cx="63720" cy="63720"/>
          </a:xfrm>
          <a:prstGeom prst="ellipse">
            <a:avLst/>
          </a:prstGeom>
          <a:solidFill>
            <a:srgbClr val="c2600b"/>
          </a:solidFill>
          <a:ln w="12700">
            <a:solidFill>
              <a:srgbClr val="c260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2" name="Text 21"/>
          <p:cNvSpPr/>
          <p:nvPr/>
        </p:nvSpPr>
        <p:spPr>
          <a:xfrm>
            <a:off x="4681800" y="2889360"/>
            <a:ext cx="299880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7222e"/>
                </a:solidFill>
                <a:latin typeface="Calibri"/>
                <a:ea typeface="Calibri"/>
              </a:rPr>
              <a:t>OCR / ANPR plate-recognition literature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Shape 22"/>
          <p:cNvSpPr/>
          <p:nvPr/>
        </p:nvSpPr>
        <p:spPr>
          <a:xfrm>
            <a:off x="4517280" y="3561480"/>
            <a:ext cx="63720" cy="63720"/>
          </a:xfrm>
          <a:prstGeom prst="ellipse">
            <a:avLst/>
          </a:prstGeom>
          <a:solidFill>
            <a:srgbClr val="c2600b"/>
          </a:solidFill>
          <a:ln w="12700">
            <a:solidFill>
              <a:srgbClr val="c260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4" name="Text 23"/>
          <p:cNvSpPr/>
          <p:nvPr/>
        </p:nvSpPr>
        <p:spPr>
          <a:xfrm>
            <a:off x="4681800" y="3374280"/>
            <a:ext cx="299880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7222e"/>
                </a:solidFill>
                <a:latin typeface="Calibri"/>
                <a:ea typeface="Calibri"/>
              </a:rPr>
              <a:t>Cross-camera vehicle Re-ID research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Shape 24"/>
          <p:cNvSpPr/>
          <p:nvPr/>
        </p:nvSpPr>
        <p:spPr>
          <a:xfrm>
            <a:off x="8138160" y="1170360"/>
            <a:ext cx="3565800" cy="2724480"/>
          </a:xfrm>
          <a:prstGeom prst="roundRect">
            <a:avLst>
              <a:gd name="adj" fmla="val 2685"/>
            </a:avLst>
          </a:prstGeom>
          <a:solidFill>
            <a:srgbClr val="ffffff"/>
          </a:solidFill>
          <a:ln w="12700">
            <a:solidFill>
              <a:srgbClr val="d6dfe9"/>
            </a:solidFill>
            <a:round/>
          </a:ln>
          <a:effectLst>
            <a:outerShdw algn="bl" blurRad="101520" dir="5400000" dist="12600" kx="0" ky="0" rotWithShape="0" sx="100000" sy="100000">
              <a:srgbClr val="9fb0c2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Shape 25"/>
          <p:cNvSpPr/>
          <p:nvPr/>
        </p:nvSpPr>
        <p:spPr>
          <a:xfrm>
            <a:off x="8138160" y="1170360"/>
            <a:ext cx="3565800" cy="566640"/>
          </a:xfrm>
          <a:prstGeom prst="roundRect">
            <a:avLst>
              <a:gd name="adj" fmla="val 12903"/>
            </a:avLst>
          </a:prstGeom>
          <a:solidFill>
            <a:srgbClr val="0b2545"/>
          </a:solidFill>
          <a:ln w="12700">
            <a:solidFill>
              <a:srgbClr val="0b25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97" name="Image 2" descr="preencoded.png"/>
          <p:cNvPicPr/>
          <p:nvPr/>
        </p:nvPicPr>
        <p:blipFill>
          <a:blip r:embed="rId3"/>
          <a:stretch/>
        </p:blipFill>
        <p:spPr>
          <a:xfrm>
            <a:off x="8339400" y="132588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398" name="Text 26"/>
          <p:cNvSpPr/>
          <p:nvPr/>
        </p:nvSpPr>
        <p:spPr>
          <a:xfrm>
            <a:off x="8686800" y="1170360"/>
            <a:ext cx="28800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97" strike="noStrike">
                <a:solidFill>
                  <a:srgbClr val="ffffff"/>
                </a:solidFill>
                <a:latin typeface="Arial"/>
                <a:ea typeface="Arial"/>
              </a:rPr>
              <a:t>ARCHITECTURE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Shape 27"/>
          <p:cNvSpPr/>
          <p:nvPr/>
        </p:nvSpPr>
        <p:spPr>
          <a:xfrm>
            <a:off x="8357760" y="2107800"/>
            <a:ext cx="63720" cy="63720"/>
          </a:xfrm>
          <a:prstGeom prst="ellipse">
            <a:avLst/>
          </a:prstGeom>
          <a:solidFill>
            <a:srgbClr val="c2600b"/>
          </a:solidFill>
          <a:ln w="12700">
            <a:solidFill>
              <a:srgbClr val="c260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0" name="Text 28"/>
          <p:cNvSpPr/>
          <p:nvPr/>
        </p:nvSpPr>
        <p:spPr>
          <a:xfrm>
            <a:off x="8522280" y="1920240"/>
            <a:ext cx="299880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7222e"/>
                </a:solidFill>
                <a:latin typeface="Calibri"/>
                <a:ea typeface="Calibri"/>
              </a:rPr>
              <a:t>Event-driven video analytics patterns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Shape 29"/>
          <p:cNvSpPr/>
          <p:nvPr/>
        </p:nvSpPr>
        <p:spPr>
          <a:xfrm>
            <a:off x="8357760" y="2592360"/>
            <a:ext cx="63720" cy="63720"/>
          </a:xfrm>
          <a:prstGeom prst="ellipse">
            <a:avLst/>
          </a:prstGeom>
          <a:solidFill>
            <a:srgbClr val="c2600b"/>
          </a:solidFill>
          <a:ln w="12700">
            <a:solidFill>
              <a:srgbClr val="c260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2" name="Text 30"/>
          <p:cNvSpPr/>
          <p:nvPr/>
        </p:nvSpPr>
        <p:spPr>
          <a:xfrm>
            <a:off x="8522280" y="2404800"/>
            <a:ext cx="299880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7222e"/>
                </a:solidFill>
                <a:latin typeface="Calibri"/>
                <a:ea typeface="Calibri"/>
              </a:rPr>
              <a:t>Edge + cloud video processing models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Shape 31"/>
          <p:cNvSpPr/>
          <p:nvPr/>
        </p:nvSpPr>
        <p:spPr>
          <a:xfrm>
            <a:off x="8357760" y="3076920"/>
            <a:ext cx="63720" cy="63720"/>
          </a:xfrm>
          <a:prstGeom prst="ellipse">
            <a:avLst/>
          </a:prstGeom>
          <a:solidFill>
            <a:srgbClr val="c2600b"/>
          </a:solidFill>
          <a:ln w="12700">
            <a:solidFill>
              <a:srgbClr val="c260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4" name="Text 32"/>
          <p:cNvSpPr/>
          <p:nvPr/>
        </p:nvSpPr>
        <p:spPr>
          <a:xfrm>
            <a:off x="8522280" y="2889360"/>
            <a:ext cx="299880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7222e"/>
                </a:solidFill>
                <a:latin typeface="Calibri"/>
                <a:ea typeface="Calibri"/>
              </a:rPr>
              <a:t>High-availability distributed systems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Shape 33"/>
          <p:cNvSpPr/>
          <p:nvPr/>
        </p:nvSpPr>
        <p:spPr>
          <a:xfrm>
            <a:off x="8357760" y="3561480"/>
            <a:ext cx="63720" cy="63720"/>
          </a:xfrm>
          <a:prstGeom prst="ellipse">
            <a:avLst/>
          </a:prstGeom>
          <a:solidFill>
            <a:srgbClr val="c2600b"/>
          </a:solidFill>
          <a:ln w="12700">
            <a:solidFill>
              <a:srgbClr val="c260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6" name="Text 34"/>
          <p:cNvSpPr/>
          <p:nvPr/>
        </p:nvSpPr>
        <p:spPr>
          <a:xfrm>
            <a:off x="8522280" y="3374280"/>
            <a:ext cx="299880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7222e"/>
                </a:solidFill>
                <a:latin typeface="Calibri"/>
                <a:ea typeface="Calibri"/>
              </a:rPr>
              <a:t>Secure RBAC &amp; audit architectures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Text 35"/>
          <p:cNvSpPr/>
          <p:nvPr/>
        </p:nvSpPr>
        <p:spPr>
          <a:xfrm>
            <a:off x="457200" y="4187880"/>
            <a:ext cx="5486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109" strike="noStrike">
                <a:solidFill>
                  <a:srgbClr val="c2600b"/>
                </a:solidFill>
                <a:latin typeface="Calibri"/>
                <a:ea typeface="Calibri"/>
              </a:rPr>
              <a:t>RESEARCH  →  SOLUTION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Shape 36"/>
          <p:cNvSpPr/>
          <p:nvPr/>
        </p:nvSpPr>
        <p:spPr>
          <a:xfrm>
            <a:off x="457200" y="4462200"/>
            <a:ext cx="2651400" cy="120672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6dfe9"/>
            </a:solidFill>
            <a:round/>
          </a:ln>
          <a:effectLst>
            <a:outerShdw algn="bl" blurRad="101520" dir="5400000" dist="12600" kx="0" ky="0" rotWithShape="0" sx="100000" sy="100000">
              <a:srgbClr val="9fb0c2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Shape 37"/>
          <p:cNvSpPr/>
          <p:nvPr/>
        </p:nvSpPr>
        <p:spPr>
          <a:xfrm>
            <a:off x="640080" y="4645080"/>
            <a:ext cx="365400" cy="365400"/>
          </a:xfrm>
          <a:prstGeom prst="ellipse">
            <a:avLst/>
          </a:prstGeom>
          <a:solidFill>
            <a:srgbClr val="eaf0f7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10" name="Image 3" descr="preencoded.png"/>
          <p:cNvPicPr/>
          <p:nvPr/>
        </p:nvPicPr>
        <p:blipFill>
          <a:blip r:embed="rId4"/>
          <a:stretch/>
        </p:blipFill>
        <p:spPr>
          <a:xfrm>
            <a:off x="713160" y="4718160"/>
            <a:ext cx="219240" cy="219240"/>
          </a:xfrm>
          <a:prstGeom prst="rect">
            <a:avLst/>
          </a:prstGeom>
          <a:ln w="0">
            <a:noFill/>
          </a:ln>
        </p:spPr>
      </p:pic>
      <p:sp>
        <p:nvSpPr>
          <p:cNvPr id="411" name="Text 38"/>
          <p:cNvSpPr/>
          <p:nvPr/>
        </p:nvSpPr>
        <p:spPr>
          <a:xfrm>
            <a:off x="2450520" y="4645080"/>
            <a:ext cx="475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d3dce6"/>
                </a:solidFill>
                <a:latin typeface="Arial"/>
                <a:ea typeface="Arial"/>
              </a:rPr>
              <a:t>01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Text 39"/>
          <p:cNvSpPr/>
          <p:nvPr/>
        </p:nvSpPr>
        <p:spPr>
          <a:xfrm>
            <a:off x="640080" y="5065920"/>
            <a:ext cx="22856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b2545"/>
                </a:solidFill>
                <a:latin typeface="Arial"/>
                <a:ea typeface="Arial"/>
              </a:rPr>
              <a:t>RESEARCH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Text 40"/>
          <p:cNvSpPr/>
          <p:nvPr/>
        </p:nvSpPr>
        <p:spPr>
          <a:xfrm>
            <a:off x="640080" y="5312520"/>
            <a:ext cx="22856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b7b"/>
                </a:solidFill>
                <a:latin typeface="Calibri"/>
                <a:ea typeface="Calibri"/>
              </a:rPr>
              <a:t>Standards, CV papers,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b7b"/>
                </a:solidFill>
                <a:latin typeface="Calibri"/>
                <a:ea typeface="Calibri"/>
              </a:rPr>
              <a:t>police workflows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4" name="Shape 41"/>
          <p:cNvSpPr/>
          <p:nvPr/>
        </p:nvSpPr>
        <p:spPr>
          <a:xfrm>
            <a:off x="3145320" y="5065560"/>
            <a:ext cx="137160" cy="360"/>
          </a:xfrm>
          <a:prstGeom prst="line">
            <a:avLst/>
          </a:prstGeom>
          <a:ln w="22225">
            <a:solidFill>
              <a:srgbClr val="c2600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Shape 42"/>
          <p:cNvSpPr/>
          <p:nvPr/>
        </p:nvSpPr>
        <p:spPr>
          <a:xfrm>
            <a:off x="3319200" y="4462200"/>
            <a:ext cx="2651400" cy="120672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6dfe9"/>
            </a:solidFill>
            <a:round/>
          </a:ln>
          <a:effectLst>
            <a:outerShdw algn="bl" blurRad="101520" dir="5400000" dist="12600" kx="0" ky="0" rotWithShape="0" sx="100000" sy="100000">
              <a:srgbClr val="9fb0c2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6" name="Shape 43"/>
          <p:cNvSpPr/>
          <p:nvPr/>
        </p:nvSpPr>
        <p:spPr>
          <a:xfrm>
            <a:off x="3502080" y="4645080"/>
            <a:ext cx="365400" cy="365400"/>
          </a:xfrm>
          <a:prstGeom prst="ellipse">
            <a:avLst/>
          </a:prstGeom>
          <a:solidFill>
            <a:srgbClr val="eaf0f7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17" name="Image 4" descr="preencoded.png"/>
          <p:cNvPicPr/>
          <p:nvPr/>
        </p:nvPicPr>
        <p:blipFill>
          <a:blip r:embed="rId5"/>
          <a:stretch/>
        </p:blipFill>
        <p:spPr>
          <a:xfrm>
            <a:off x="3575160" y="4718160"/>
            <a:ext cx="219240" cy="219240"/>
          </a:xfrm>
          <a:prstGeom prst="rect">
            <a:avLst/>
          </a:prstGeom>
          <a:ln w="0">
            <a:noFill/>
          </a:ln>
        </p:spPr>
      </p:pic>
      <p:sp>
        <p:nvSpPr>
          <p:cNvPr id="418" name="Text 44"/>
          <p:cNvSpPr/>
          <p:nvPr/>
        </p:nvSpPr>
        <p:spPr>
          <a:xfrm>
            <a:off x="5312520" y="4645080"/>
            <a:ext cx="475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d3dce6"/>
                </a:solidFill>
                <a:latin typeface="Arial"/>
                <a:ea typeface="Arial"/>
              </a:rPr>
              <a:t>02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Text 45"/>
          <p:cNvSpPr/>
          <p:nvPr/>
        </p:nvSpPr>
        <p:spPr>
          <a:xfrm>
            <a:off x="3502080" y="5065920"/>
            <a:ext cx="22856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b2545"/>
                </a:solidFill>
                <a:latin typeface="Arial"/>
                <a:ea typeface="Arial"/>
              </a:rPr>
              <a:t>ARCHITECTURE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0" name="Text 46"/>
          <p:cNvSpPr/>
          <p:nvPr/>
        </p:nvSpPr>
        <p:spPr>
          <a:xfrm>
            <a:off x="3502080" y="5312520"/>
            <a:ext cx="22856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b7b"/>
                </a:solidFill>
                <a:latin typeface="Calibri"/>
                <a:ea typeface="Calibri"/>
              </a:rPr>
              <a:t>Vendor-neutral,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b7b"/>
                </a:solidFill>
                <a:latin typeface="Calibri"/>
                <a:ea typeface="Calibri"/>
              </a:rPr>
              <a:t>metadata-first design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Shape 47"/>
          <p:cNvSpPr/>
          <p:nvPr/>
        </p:nvSpPr>
        <p:spPr>
          <a:xfrm>
            <a:off x="6007320" y="5065560"/>
            <a:ext cx="137160" cy="360"/>
          </a:xfrm>
          <a:prstGeom prst="line">
            <a:avLst/>
          </a:prstGeom>
          <a:ln w="22225">
            <a:solidFill>
              <a:srgbClr val="c2600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Shape 48"/>
          <p:cNvSpPr/>
          <p:nvPr/>
        </p:nvSpPr>
        <p:spPr>
          <a:xfrm>
            <a:off x="6181200" y="4462200"/>
            <a:ext cx="2651400" cy="120672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6dfe9"/>
            </a:solidFill>
            <a:round/>
          </a:ln>
          <a:effectLst>
            <a:outerShdw algn="bl" blurRad="101520" dir="5400000" dist="12600" kx="0" ky="0" rotWithShape="0" sx="100000" sy="100000">
              <a:srgbClr val="9fb0c2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Shape 49"/>
          <p:cNvSpPr/>
          <p:nvPr/>
        </p:nvSpPr>
        <p:spPr>
          <a:xfrm>
            <a:off x="6364080" y="4645080"/>
            <a:ext cx="365400" cy="365400"/>
          </a:xfrm>
          <a:prstGeom prst="ellipse">
            <a:avLst/>
          </a:prstGeom>
          <a:solidFill>
            <a:srgbClr val="eaf0f7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24" name="Image 5" descr="preencoded.png"/>
          <p:cNvPicPr/>
          <p:nvPr/>
        </p:nvPicPr>
        <p:blipFill>
          <a:blip r:embed="rId6"/>
          <a:stretch/>
        </p:blipFill>
        <p:spPr>
          <a:xfrm>
            <a:off x="6437520" y="4718160"/>
            <a:ext cx="219240" cy="219240"/>
          </a:xfrm>
          <a:prstGeom prst="rect">
            <a:avLst/>
          </a:prstGeom>
          <a:ln w="0">
            <a:noFill/>
          </a:ln>
        </p:spPr>
      </p:pic>
      <p:sp>
        <p:nvSpPr>
          <p:cNvPr id="425" name="Text 50"/>
          <p:cNvSpPr/>
          <p:nvPr/>
        </p:nvSpPr>
        <p:spPr>
          <a:xfrm>
            <a:off x="8174880" y="4645080"/>
            <a:ext cx="475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d3dce6"/>
                </a:solidFill>
                <a:latin typeface="Arial"/>
                <a:ea typeface="Arial"/>
              </a:rPr>
              <a:t>03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6" name="Text 51"/>
          <p:cNvSpPr/>
          <p:nvPr/>
        </p:nvSpPr>
        <p:spPr>
          <a:xfrm>
            <a:off x="6364080" y="5065920"/>
            <a:ext cx="22856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b2545"/>
                </a:solidFill>
                <a:latin typeface="Arial"/>
                <a:ea typeface="Arial"/>
              </a:rPr>
              <a:t>PROTOTYPE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Text 52"/>
          <p:cNvSpPr/>
          <p:nvPr/>
        </p:nvSpPr>
        <p:spPr>
          <a:xfrm>
            <a:off x="6364080" y="5312520"/>
            <a:ext cx="22856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b7b"/>
                </a:solidFill>
                <a:latin typeface="Calibri"/>
                <a:ea typeface="Calibri"/>
              </a:rPr>
              <a:t>Working platform on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b7b"/>
                </a:solidFill>
                <a:latin typeface="Calibri"/>
                <a:ea typeface="Calibri"/>
              </a:rPr>
              <a:t>recorded feeds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" name="Shape 53"/>
          <p:cNvSpPr/>
          <p:nvPr/>
        </p:nvSpPr>
        <p:spPr>
          <a:xfrm>
            <a:off x="8869680" y="5065560"/>
            <a:ext cx="137160" cy="360"/>
          </a:xfrm>
          <a:prstGeom prst="line">
            <a:avLst/>
          </a:prstGeom>
          <a:ln w="22225">
            <a:solidFill>
              <a:srgbClr val="c2600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9" name="Shape 54"/>
          <p:cNvSpPr/>
          <p:nvPr/>
        </p:nvSpPr>
        <p:spPr>
          <a:xfrm>
            <a:off x="9043560" y="4462200"/>
            <a:ext cx="2651400" cy="1206720"/>
          </a:xfrm>
          <a:prstGeom prst="roundRect">
            <a:avLst>
              <a:gd name="adj" fmla="val 6061"/>
            </a:avLst>
          </a:prstGeom>
          <a:solidFill>
            <a:srgbClr val="0b2545"/>
          </a:solidFill>
          <a:ln w="12700">
            <a:solidFill>
              <a:srgbClr val="0b2545"/>
            </a:solidFill>
            <a:round/>
          </a:ln>
          <a:effectLst>
            <a:outerShdw algn="bl" blurRad="101520" dir="5400000" dist="12600" kx="0" ky="0" rotWithShape="0" sx="100000" sy="100000">
              <a:srgbClr val="9fb0c2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0" name="Shape 55"/>
          <p:cNvSpPr/>
          <p:nvPr/>
        </p:nvSpPr>
        <p:spPr>
          <a:xfrm>
            <a:off x="9226440" y="4645080"/>
            <a:ext cx="365400" cy="365400"/>
          </a:xfrm>
          <a:prstGeom prst="ellipse">
            <a:avLst/>
          </a:prstGeom>
          <a:solidFill>
            <a:srgbClr val="1d4e89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31" name="Image 6" descr="preencoded.png"/>
          <p:cNvPicPr/>
          <p:nvPr/>
        </p:nvPicPr>
        <p:blipFill>
          <a:blip r:embed="rId7"/>
          <a:stretch/>
        </p:blipFill>
        <p:spPr>
          <a:xfrm>
            <a:off x="9299520" y="4718160"/>
            <a:ext cx="219240" cy="219240"/>
          </a:xfrm>
          <a:prstGeom prst="rect">
            <a:avLst/>
          </a:prstGeom>
          <a:ln w="0">
            <a:noFill/>
          </a:ln>
        </p:spPr>
      </p:pic>
      <p:sp>
        <p:nvSpPr>
          <p:cNvPr id="432" name="Text 56"/>
          <p:cNvSpPr/>
          <p:nvPr/>
        </p:nvSpPr>
        <p:spPr>
          <a:xfrm>
            <a:off x="11036880" y="4645080"/>
            <a:ext cx="475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4e7bb0"/>
                </a:solidFill>
                <a:latin typeface="Arial"/>
                <a:ea typeface="Arial"/>
              </a:rPr>
              <a:t>04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Text 57"/>
          <p:cNvSpPr/>
          <p:nvPr/>
        </p:nvSpPr>
        <p:spPr>
          <a:xfrm>
            <a:off x="9226440" y="5065920"/>
            <a:ext cx="22856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DEPLOYMENT ROADMAP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4" name="Text 58"/>
          <p:cNvSpPr/>
          <p:nvPr/>
        </p:nvSpPr>
        <p:spPr>
          <a:xfrm>
            <a:off x="9226440" y="5312520"/>
            <a:ext cx="22856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bfd2e8"/>
                </a:solidFill>
                <a:latin typeface="Calibri"/>
                <a:ea typeface="Calibri"/>
              </a:rPr>
              <a:t>Edge rollout, HA/DR,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bfd2e8"/>
                </a:solidFill>
                <a:latin typeface="Calibri"/>
                <a:ea typeface="Calibri"/>
              </a:rPr>
              <a:t>dept. integrations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5" name="Text 59"/>
          <p:cNvSpPr/>
          <p:nvPr/>
        </p:nvSpPr>
        <p:spPr>
          <a:xfrm>
            <a:off x="457200" y="5989320"/>
            <a:ext cx="11246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2026-09-08T16:51:34Z</dcterms:created>
  <dc:creator>Team Sentinel</dc:creator>
  <dc:description/>
  <dc:language>en-US</dc:language>
  <cp:lastModifiedBy/>
  <dcterms:modified xsi:type="dcterms:W3CDTF">2026-09-08T22:24:46Z</dcterms:modified>
  <cp:revision>3</cp:revision>
  <dc:subject>PptxGenJS Presentation</dc:subject>
  <dc:title>SENTINEL — AI-Powered Unified CCTV Intelligence &amp; Investigation Platform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6</vt:i4>
  </property>
  <property fmtid="{D5CDD505-2E9C-101B-9397-08002B2CF9AE}" pid="3" name="PresentationFormat">
    <vt:lpwstr>On-screen Show (16:9)</vt:lpwstr>
  </property>
  <property fmtid="{D5CDD505-2E9C-101B-9397-08002B2CF9AE}" pid="4" name="Slides">
    <vt:i4>6</vt:i4>
  </property>
</Properties>
</file>